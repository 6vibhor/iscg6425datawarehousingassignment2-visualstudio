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6" r:id="rId4"/>
    <p:sldId id="260" r:id="rId5"/>
    <p:sldId id="262" r:id="rId6"/>
    <p:sldId id="263" r:id="rId7"/>
    <p:sldId id="265" r:id="rId8"/>
    <p:sldId id="268" r:id="rId9"/>
    <p:sldId id="269" r:id="rId10"/>
    <p:sldId id="270" r:id="rId11"/>
    <p:sldId id="271" r:id="rId12"/>
    <p:sldId id="266" r:id="rId13"/>
    <p:sldId id="267" r:id="rId14"/>
    <p:sldId id="275" r:id="rId15"/>
    <p:sldId id="276" r:id="rId16"/>
    <p:sldId id="274" r:id="rId17"/>
    <p:sldId id="272"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A2D1D-BA6A-4614-88C5-DE75F7123892}" v="2362" dt="2021-10-29T06:37:06.071"/>
    <p1510:client id="{9685C214-480F-434F-96B7-D0A60BE8AC43}" v="14" dt="2021-10-29T07:00:36.4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10/29/2021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5096" y="1854201"/>
            <a:ext cx="8882270" cy="796580"/>
          </a:xfrm>
        </p:spPr>
        <p:txBody>
          <a:bodyPr>
            <a:noAutofit/>
          </a:bodyPr>
          <a:lstStyle/>
          <a:p>
            <a:pPr marL="1911350" marR="0" indent="-1890395" algn="l">
              <a:spcBef>
                <a:spcPts val="0"/>
              </a:spcBef>
              <a:spcAft>
                <a:spcPts val="0"/>
              </a:spcAft>
              <a:tabLst>
                <a:tab pos="1911350" algn="l"/>
              </a:tabLst>
            </a:pPr>
            <a:r>
              <a:rPr lang="en-GB" sz="3600">
                <a:effectLst/>
                <a:latin typeface="+mn-lt"/>
                <a:ea typeface="SimSun" panose="02010600030101010101" pitchFamily="2" charset="-122"/>
                <a:cs typeface="Times New Roman" panose="02020603050405020304" pitchFamily="18" charset="0"/>
              </a:rPr>
              <a:t>ISCG6425 Data Warehousing</a:t>
            </a:r>
            <a:r>
              <a:rPr lang="en-US" sz="3600">
                <a:latin typeface="+mn-lt"/>
                <a:ea typeface="SimSun" panose="02010600030101010101" pitchFamily="2" charset="-122"/>
                <a:cs typeface="Times New Roman" panose="02020603050405020304" pitchFamily="18" charset="0"/>
              </a:rPr>
              <a:t> </a:t>
            </a:r>
            <a:r>
              <a:rPr lang="en-GB" sz="3600">
                <a:effectLst/>
                <a:latin typeface="+mn-lt"/>
                <a:ea typeface="SimSun" panose="02010600030101010101" pitchFamily="2" charset="-122"/>
              </a:rPr>
              <a:t>Assignment 2</a:t>
            </a:r>
            <a:endParaRPr lang="en-US" sz="8800">
              <a:latin typeface="+mn-lt"/>
            </a:endParaRPr>
          </a:p>
        </p:txBody>
      </p:sp>
      <p:sp>
        <p:nvSpPr>
          <p:cNvPr id="3" name="Subtitle 2"/>
          <p:cNvSpPr>
            <a:spLocks noGrp="1"/>
          </p:cNvSpPr>
          <p:nvPr>
            <p:ph type="subTitle" idx="1"/>
          </p:nvPr>
        </p:nvSpPr>
        <p:spPr>
          <a:xfrm>
            <a:off x="1424610" y="2670659"/>
            <a:ext cx="9144000" cy="1655762"/>
          </a:xfrm>
        </p:spPr>
        <p:txBody>
          <a:bodyPr>
            <a:normAutofit/>
          </a:bodyPr>
          <a:lstStyle/>
          <a:p>
            <a:pPr algn="l"/>
            <a:r>
              <a:rPr lang="en-US" sz="3200"/>
              <a:t>Vibhor Gupta | 02/Nov/2021</a:t>
            </a:r>
          </a:p>
        </p:txBody>
      </p:sp>
    </p:spTree>
    <p:extLst>
      <p:ext uri="{BB962C8B-B14F-4D97-AF65-F5344CB8AC3E}">
        <p14:creationId xmlns:p14="http://schemas.microsoft.com/office/powerpoint/2010/main" val="361329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62339" y="61370"/>
            <a:ext cx="4837043" cy="438772"/>
          </a:xfrm>
        </p:spPr>
        <p:txBody>
          <a:bodyPr>
            <a:normAutofit/>
          </a:bodyPr>
          <a:lstStyle/>
          <a:p>
            <a:pPr marL="0" marR="62230" algn="l">
              <a:spcBef>
                <a:spcPts val="0"/>
              </a:spcBef>
              <a:spcAft>
                <a:spcPts val="600"/>
              </a:spcAft>
            </a:pPr>
            <a:r>
              <a:rPr lang="en-NZ" sz="2400">
                <a:solidFill>
                  <a:schemeClr val="bg1"/>
                </a:solidFill>
                <a:effectLst/>
                <a:latin typeface="+mn-lt"/>
                <a:ea typeface="SimSun" panose="02010600030101010101" pitchFamily="2" charset="-122"/>
                <a:cs typeface="Times New Roman" panose="02020603050405020304" pitchFamily="18" charset="0"/>
              </a:rPr>
              <a:t>Agenda</a:t>
            </a:r>
            <a:endParaRPr lang="en-US" sz="2400">
              <a:solidFill>
                <a:schemeClr val="bg1"/>
              </a:solidFill>
              <a:effectLst/>
              <a:latin typeface="+mn-lt"/>
              <a:ea typeface="SimSun"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7A315751-4505-45D5-BA87-E08A3A5BC308}"/>
              </a:ext>
            </a:extLst>
          </p:cNvPr>
          <p:cNvSpPr txBox="1"/>
          <p:nvPr/>
        </p:nvSpPr>
        <p:spPr>
          <a:xfrm>
            <a:off x="308112" y="933242"/>
            <a:ext cx="11539331" cy="4978799"/>
          </a:xfrm>
          <a:prstGeom prst="rect">
            <a:avLst/>
          </a:prstGeom>
          <a:noFill/>
        </p:spPr>
        <p:txBody>
          <a:bodyPr wrap="square">
            <a:spAutoFit/>
          </a:bodyPr>
          <a:lstStyle/>
          <a:p>
            <a:pPr marR="0" lvl="0" algn="just">
              <a:lnSpc>
                <a:spcPct val="105000"/>
              </a:lnSpc>
              <a:spcBef>
                <a:spcPts val="0"/>
              </a:spcBef>
              <a:spcAft>
                <a:spcPts val="600"/>
              </a:spcAft>
            </a:pPr>
            <a:r>
              <a:rPr lang="en-NZ" sz="1600" b="1">
                <a:effectLst/>
                <a:ea typeface="SimSun" panose="02010600030101010101" pitchFamily="2" charset="-122"/>
              </a:rPr>
              <a:t>Tasks T1 OLAP and ETL process</a:t>
            </a:r>
            <a:endParaRPr lang="en-NZ" sz="1600" b="1">
              <a:solidFill>
                <a:srgbClr val="000000"/>
              </a:solidFill>
              <a:effectLst/>
              <a:ea typeface="Times New Roman" panose="02020603050405020304" pitchFamily="18" charset="0"/>
            </a:endParaRPr>
          </a:p>
          <a:p>
            <a:pPr marL="342900" marR="0" lvl="0" indent="-342900" algn="just">
              <a:lnSpc>
                <a:spcPct val="105000"/>
              </a:lnSpc>
              <a:spcBef>
                <a:spcPts val="0"/>
              </a:spcBef>
              <a:spcAft>
                <a:spcPts val="600"/>
              </a:spcAft>
              <a:buFont typeface="+mj-lt"/>
              <a:buAutoNum type="arabicPeriod"/>
            </a:pPr>
            <a:r>
              <a:rPr lang="en-NZ">
                <a:solidFill>
                  <a:srgbClr val="000000"/>
                </a:solidFill>
                <a:effectLst/>
                <a:ea typeface="Times New Roman" panose="02020603050405020304" pitchFamily="18" charset="0"/>
              </a:rPr>
              <a:t>Creating the OLAP tables in Data Warehouse (Contd. From Task 1)</a:t>
            </a:r>
          </a:p>
          <a:p>
            <a:pPr marL="342900" marR="0" lvl="0" indent="-342900" algn="just">
              <a:lnSpc>
                <a:spcPct val="105000"/>
              </a:lnSpc>
              <a:spcBef>
                <a:spcPts val="0"/>
              </a:spcBef>
              <a:spcAft>
                <a:spcPts val="600"/>
              </a:spcAft>
              <a:buFont typeface="+mj-lt"/>
              <a:buAutoNum type="arabicPeriod"/>
            </a:pPr>
            <a:r>
              <a:rPr lang="en-NZ">
                <a:solidFill>
                  <a:srgbClr val="000000"/>
                </a:solidFill>
                <a:effectLst/>
                <a:ea typeface="Times New Roman" panose="02020603050405020304" pitchFamily="18" charset="0"/>
              </a:rPr>
              <a:t>Creating a new Integration Services Project</a:t>
            </a:r>
          </a:p>
          <a:p>
            <a:pPr marL="800100" lvl="1" indent="-342900" algn="just">
              <a:lnSpc>
                <a:spcPct val="105000"/>
              </a:lnSpc>
              <a:spcAft>
                <a:spcPts val="600"/>
              </a:spcAft>
              <a:buFont typeface="+mj-lt"/>
              <a:buAutoNum type="arabicPeriod"/>
            </a:pPr>
            <a:r>
              <a:rPr lang="en-NZ">
                <a:solidFill>
                  <a:srgbClr val="000000"/>
                </a:solidFill>
                <a:ea typeface="Times New Roman" panose="02020603050405020304" pitchFamily="18" charset="0"/>
              </a:rPr>
              <a:t>Connection Manager</a:t>
            </a:r>
          </a:p>
          <a:p>
            <a:pPr marL="800100" lvl="1" indent="-342900" algn="just">
              <a:lnSpc>
                <a:spcPct val="105000"/>
              </a:lnSpc>
              <a:spcAft>
                <a:spcPts val="600"/>
              </a:spcAft>
              <a:buFont typeface="+mj-lt"/>
              <a:buAutoNum type="arabicPeriod"/>
            </a:pPr>
            <a:r>
              <a:rPr lang="en-NZ">
                <a:solidFill>
                  <a:srgbClr val="000000"/>
                </a:solidFill>
                <a:effectLst/>
                <a:ea typeface="Times New Roman" panose="02020603050405020304" pitchFamily="18" charset="0"/>
              </a:rPr>
              <a:t>Common SSIS Toolbox Components – Sequence Container,  Execute SQL Task</a:t>
            </a:r>
          </a:p>
          <a:p>
            <a:pPr marL="342900" indent="-342900" algn="just">
              <a:lnSpc>
                <a:spcPct val="105000"/>
              </a:lnSpc>
              <a:spcAft>
                <a:spcPts val="600"/>
              </a:spcAft>
              <a:buFont typeface="+mj-lt"/>
              <a:buAutoNum type="arabicPeriod"/>
            </a:pPr>
            <a:r>
              <a:rPr lang="en-NZ">
                <a:effectLst/>
                <a:ea typeface="SimSun" panose="02010600030101010101" pitchFamily="2" charset="-122"/>
              </a:rPr>
              <a:t>Extract, Transform and Load data in Integration Services Project</a:t>
            </a:r>
          </a:p>
          <a:p>
            <a:pPr marL="800100" lvl="1" indent="-342900" algn="just">
              <a:lnSpc>
                <a:spcPct val="105000"/>
              </a:lnSpc>
              <a:spcAft>
                <a:spcPts val="600"/>
              </a:spcAft>
              <a:buFont typeface="+mj-lt"/>
              <a:buAutoNum type="arabicPeriod"/>
            </a:pPr>
            <a:r>
              <a:rPr lang="en-NZ">
                <a:solidFill>
                  <a:srgbClr val="000000"/>
                </a:solidFill>
                <a:effectLst/>
                <a:ea typeface="Times New Roman" panose="02020603050405020304" pitchFamily="18" charset="0"/>
              </a:rPr>
              <a:t>Common SSIS Toolbox Components – Data Flow Task, OLEDB Source, Lookup, Union, Sort, Row Count, OLEDB </a:t>
            </a:r>
            <a:r>
              <a:rPr lang="en-US">
                <a:solidFill>
                  <a:srgbClr val="000000"/>
                </a:solidFill>
                <a:effectLst/>
                <a:ea typeface="Times New Roman" panose="02020603050405020304" pitchFamily="18" charset="0"/>
              </a:rPr>
              <a:t>Destination</a:t>
            </a:r>
          </a:p>
          <a:p>
            <a:pPr marL="342900" indent="-342900" algn="just">
              <a:lnSpc>
                <a:spcPct val="105000"/>
              </a:lnSpc>
              <a:spcAft>
                <a:spcPts val="600"/>
              </a:spcAft>
              <a:buFont typeface="+mj-lt"/>
              <a:buAutoNum type="arabicPeriod"/>
            </a:pPr>
            <a:r>
              <a:rPr lang="en-US">
                <a:solidFill>
                  <a:srgbClr val="000000"/>
                </a:solidFill>
                <a:ea typeface="Times New Roman" panose="02020603050405020304" pitchFamily="18" charset="0"/>
              </a:rPr>
              <a:t>Logging in Integration Services Project</a:t>
            </a:r>
          </a:p>
          <a:p>
            <a:pPr marL="342900" indent="-342900" algn="just">
              <a:lnSpc>
                <a:spcPct val="105000"/>
              </a:lnSpc>
              <a:spcAft>
                <a:spcPts val="600"/>
              </a:spcAft>
              <a:buFont typeface="+mj-lt"/>
              <a:buAutoNum type="arabicPeriod"/>
            </a:pPr>
            <a:r>
              <a:rPr lang="en-US">
                <a:solidFill>
                  <a:srgbClr val="000000"/>
                </a:solidFill>
                <a:ea typeface="Times New Roman" panose="02020603050405020304" pitchFamily="18" charset="0"/>
              </a:rPr>
              <a:t>Custom DQ Log of data in </a:t>
            </a:r>
            <a:r>
              <a:rPr lang="en-GB" sz="1800" b="0">
                <a:effectLst/>
                <a:ea typeface="Times New Roman" panose="02020603050405020304" pitchFamily="18" charset="0"/>
              </a:rPr>
              <a:t>OLAP versus OLTP</a:t>
            </a:r>
          </a:p>
          <a:p>
            <a:pPr algn="just">
              <a:lnSpc>
                <a:spcPct val="105000"/>
              </a:lnSpc>
              <a:spcAft>
                <a:spcPts val="600"/>
              </a:spcAft>
            </a:pPr>
            <a:endParaRPr lang="en-NZ" sz="1600" b="1">
              <a:ea typeface="SimSun" panose="02010600030101010101" pitchFamily="2" charset="-122"/>
            </a:endParaRPr>
          </a:p>
          <a:p>
            <a:pPr algn="just">
              <a:lnSpc>
                <a:spcPct val="105000"/>
              </a:lnSpc>
              <a:spcAft>
                <a:spcPts val="600"/>
              </a:spcAft>
            </a:pPr>
            <a:r>
              <a:rPr lang="en-NZ" sz="1600" b="1">
                <a:ea typeface="SimSun" panose="02010600030101010101" pitchFamily="2" charset="-122"/>
              </a:rPr>
              <a:t>T2 Data Quality</a:t>
            </a:r>
          </a:p>
          <a:p>
            <a:pPr marL="342900" marR="57785" lvl="0" indent="-342900" algn="just">
              <a:lnSpc>
                <a:spcPct val="105000"/>
              </a:lnSpc>
              <a:spcBef>
                <a:spcPts val="0"/>
              </a:spcBef>
              <a:spcAft>
                <a:spcPts val="600"/>
              </a:spcAft>
              <a:buFont typeface="+mj-lt"/>
              <a:buAutoNum type="arabicPeriod"/>
            </a:pPr>
            <a:r>
              <a:rPr lang="en-NZ">
                <a:solidFill>
                  <a:srgbClr val="000000"/>
                </a:solidFill>
              </a:rPr>
              <a:t>Implementing Data Quality Rules using Conditional Split &amp; Derived Column</a:t>
            </a:r>
          </a:p>
          <a:p>
            <a:pPr marL="342900" indent="-342900" algn="just">
              <a:lnSpc>
                <a:spcPct val="105000"/>
              </a:lnSpc>
              <a:spcAft>
                <a:spcPts val="600"/>
              </a:spcAft>
              <a:buFont typeface="+mj-lt"/>
              <a:buAutoNum type="arabicPeriod"/>
            </a:pPr>
            <a:r>
              <a:rPr lang="en-US">
                <a:solidFill>
                  <a:srgbClr val="000000"/>
                </a:solidFill>
              </a:rPr>
              <a:t>Custom DQ Log of data in </a:t>
            </a:r>
            <a:r>
              <a:rPr lang="en-GB">
                <a:solidFill>
                  <a:srgbClr val="000000"/>
                </a:solidFill>
              </a:rPr>
              <a:t>OLAP versus OLTP</a:t>
            </a:r>
          </a:p>
        </p:txBody>
      </p:sp>
    </p:spTree>
    <p:extLst>
      <p:ext uri="{BB962C8B-B14F-4D97-AF65-F5344CB8AC3E}">
        <p14:creationId xmlns:p14="http://schemas.microsoft.com/office/powerpoint/2010/main" val="106924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162FAAB8-7FBE-44F6-90A7-E2978CBAC43F}"/>
              </a:ext>
            </a:extLst>
          </p:cNvPr>
          <p:cNvCxnSpPr>
            <a:cxnSpLocks/>
          </p:cNvCxnSpPr>
          <p:nvPr/>
        </p:nvCxnSpPr>
        <p:spPr>
          <a:xfrm flipV="1">
            <a:off x="9389442" y="4392937"/>
            <a:ext cx="0" cy="574046"/>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pic>
        <p:nvPicPr>
          <p:cNvPr id="9" name="Graphic 8" descr="Star outline">
            <a:extLst>
              <a:ext uri="{FF2B5EF4-FFF2-40B4-BE49-F238E27FC236}">
                <a16:creationId xmlns:a16="http://schemas.microsoft.com/office/drawing/2014/main" id="{9460E9F8-ED2E-4215-8175-E9274C5317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2151" y="522815"/>
            <a:ext cx="6664223" cy="6664223"/>
          </a:xfrm>
          <a:prstGeom prst="rect">
            <a:avLst/>
          </a:prstGeom>
        </p:spPr>
      </p:pic>
      <p:sp>
        <p:nvSpPr>
          <p:cNvPr id="4" name="Rectangle 3">
            <a:extLst>
              <a:ext uri="{FF2B5EF4-FFF2-40B4-BE49-F238E27FC236}">
                <a16:creationId xmlns:a16="http://schemas.microsoft.com/office/drawing/2014/main" id="{DD1E3365-7CD4-4437-B12E-07287FEE8723}"/>
              </a:ext>
            </a:extLst>
          </p:cNvPr>
          <p:cNvSpPr/>
          <p:nvPr/>
        </p:nvSpPr>
        <p:spPr>
          <a:xfrm>
            <a:off x="0" y="0"/>
            <a:ext cx="12192000" cy="574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17748" y="54387"/>
            <a:ext cx="7828722" cy="438772"/>
          </a:xfrm>
        </p:spPr>
        <p:txBody>
          <a:bodyPr>
            <a:normAutofit fontScale="90000"/>
          </a:bodyPr>
          <a:lstStyle/>
          <a:p>
            <a:pPr marR="0" lvl="0" algn="just">
              <a:lnSpc>
                <a:spcPct val="105000"/>
              </a:lnSpc>
              <a:spcBef>
                <a:spcPts val="0"/>
              </a:spcBef>
              <a:spcAft>
                <a:spcPts val="600"/>
              </a:spcAft>
            </a:pPr>
            <a:r>
              <a:rPr lang="en-NZ" sz="2400">
                <a:solidFill>
                  <a:schemeClr val="bg1"/>
                </a:solidFill>
                <a:effectLst/>
                <a:ea typeface="Times New Roman" panose="02020603050405020304" pitchFamily="18" charset="0"/>
              </a:rPr>
              <a:t>Creating the OLAP tables in Data Warehouse (Contd. From Task 1)</a:t>
            </a:r>
          </a:p>
        </p:txBody>
      </p:sp>
      <p:graphicFrame>
        <p:nvGraphicFramePr>
          <p:cNvPr id="11" name="Table 10">
            <a:extLst>
              <a:ext uri="{FF2B5EF4-FFF2-40B4-BE49-F238E27FC236}">
                <a16:creationId xmlns:a16="http://schemas.microsoft.com/office/drawing/2014/main" id="{2656779D-F342-469C-B099-DB76F468E1B5}"/>
              </a:ext>
            </a:extLst>
          </p:cNvPr>
          <p:cNvGraphicFramePr>
            <a:graphicFrameLocks noGrp="1"/>
          </p:cNvGraphicFramePr>
          <p:nvPr>
            <p:extLst>
              <p:ext uri="{D42A27DB-BD31-4B8C-83A1-F6EECF244321}">
                <p14:modId xmlns:p14="http://schemas.microsoft.com/office/powerpoint/2010/main" val="1763519707"/>
              </p:ext>
            </p:extLst>
          </p:nvPr>
        </p:nvGraphicFramePr>
        <p:xfrm>
          <a:off x="4579628" y="1068574"/>
          <a:ext cx="3032743" cy="1062918"/>
        </p:xfrm>
        <a:graphic>
          <a:graphicData uri="http://schemas.openxmlformats.org/drawingml/2006/table">
            <a:tbl>
              <a:tblPr/>
              <a:tblGrid>
                <a:gridCol w="912337">
                  <a:extLst>
                    <a:ext uri="{9D8B030D-6E8A-4147-A177-3AD203B41FA5}">
                      <a16:colId xmlns:a16="http://schemas.microsoft.com/office/drawing/2014/main" val="2622316996"/>
                    </a:ext>
                  </a:extLst>
                </a:gridCol>
                <a:gridCol w="1241568">
                  <a:extLst>
                    <a:ext uri="{9D8B030D-6E8A-4147-A177-3AD203B41FA5}">
                      <a16:colId xmlns:a16="http://schemas.microsoft.com/office/drawing/2014/main" val="1723785781"/>
                    </a:ext>
                  </a:extLst>
                </a:gridCol>
                <a:gridCol w="878838">
                  <a:extLst>
                    <a:ext uri="{9D8B030D-6E8A-4147-A177-3AD203B41FA5}">
                      <a16:colId xmlns:a16="http://schemas.microsoft.com/office/drawing/2014/main" val="910472427"/>
                    </a:ext>
                  </a:extLst>
                </a:gridCol>
              </a:tblGrid>
              <a:tr h="421168">
                <a:tc>
                  <a:txBody>
                    <a:bodyPr/>
                    <a:lstStyle/>
                    <a:p>
                      <a:pPr algn="ctr" fontAlgn="b"/>
                      <a:r>
                        <a:rPr lang="en-US" sz="1400" b="1" i="0" u="none" strike="noStrike">
                          <a:solidFill>
                            <a:schemeClr val="tx1"/>
                          </a:solidFill>
                          <a:effectLst/>
                          <a:latin typeface="Calibri" panose="020F0502020204030204" pitchFamily="34" charset="0"/>
                        </a:rPr>
                        <a:t>Time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algn="ctr" fontAlgn="b"/>
                      <a:r>
                        <a:rPr lang="en-US" sz="1400" b="1" i="0" u="none" strike="noStrike">
                          <a:solidFill>
                            <a:schemeClr val="tx1"/>
                          </a:solidFill>
                          <a:effectLst/>
                          <a:latin typeface="Calibri" panose="020F0502020204030204" pitchFamily="34" charset="0"/>
                        </a:rPr>
                        <a:t>Date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algn="ctr" fontAlgn="b"/>
                      <a:r>
                        <a:rPr lang="en-US" sz="1400" b="1" i="0" u="none" strike="noStrike">
                          <a:solidFill>
                            <a:schemeClr val="tx1"/>
                          </a:solidFill>
                          <a:effectLst/>
                          <a:latin typeface="Calibri" panose="020F0502020204030204" pitchFamily="34" charset="0"/>
                        </a:rPr>
                        <a:t>Day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14332022"/>
                  </a:ext>
                </a:extLst>
              </a:tr>
              <a:tr h="320875">
                <a:tc>
                  <a:txBody>
                    <a:bodyPr/>
                    <a:lstStyle/>
                    <a:p>
                      <a:pPr algn="ctr" fontAlgn="b"/>
                      <a:r>
                        <a:rPr lang="en-US" sz="12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12/31/9999</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Friday    </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499738801"/>
                  </a:ext>
                </a:extLst>
              </a:tr>
              <a:tr h="320875">
                <a:tc>
                  <a:txBody>
                    <a:bodyPr/>
                    <a:lstStyle/>
                    <a:p>
                      <a:pPr algn="ctr" fontAlgn="b"/>
                      <a:r>
                        <a:rPr lang="en-US" sz="1200" b="0" i="0" u="none" strike="noStrike">
                          <a:solidFill>
                            <a:srgbClr val="000000"/>
                          </a:solidFill>
                          <a:effectLst/>
                          <a:latin typeface="Calibri" panose="020F0502020204030204" pitchFamily="34" charset="0"/>
                        </a:rPr>
                        <a:t>0</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1/1/2013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Tuesday   </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72696529"/>
                  </a:ext>
                </a:extLst>
              </a:tr>
            </a:tbl>
          </a:graphicData>
        </a:graphic>
      </p:graphicFrame>
      <p:graphicFrame>
        <p:nvGraphicFramePr>
          <p:cNvPr id="16" name="Table 15">
            <a:extLst>
              <a:ext uri="{FF2B5EF4-FFF2-40B4-BE49-F238E27FC236}">
                <a16:creationId xmlns:a16="http://schemas.microsoft.com/office/drawing/2014/main" id="{A4774230-51A4-40F2-9A59-3EAF67224122}"/>
              </a:ext>
            </a:extLst>
          </p:cNvPr>
          <p:cNvGraphicFramePr>
            <a:graphicFrameLocks noGrp="1"/>
          </p:cNvGraphicFramePr>
          <p:nvPr>
            <p:extLst>
              <p:ext uri="{D42A27DB-BD31-4B8C-83A1-F6EECF244321}">
                <p14:modId xmlns:p14="http://schemas.microsoft.com/office/powerpoint/2010/main" val="4230882881"/>
              </p:ext>
            </p:extLst>
          </p:nvPr>
        </p:nvGraphicFramePr>
        <p:xfrm>
          <a:off x="3297362" y="5560966"/>
          <a:ext cx="5924003" cy="922539"/>
        </p:xfrm>
        <a:graphic>
          <a:graphicData uri="http://schemas.openxmlformats.org/drawingml/2006/table">
            <a:tbl>
              <a:tblPr/>
              <a:tblGrid>
                <a:gridCol w="1323500">
                  <a:extLst>
                    <a:ext uri="{9D8B030D-6E8A-4147-A177-3AD203B41FA5}">
                      <a16:colId xmlns:a16="http://schemas.microsoft.com/office/drawing/2014/main" val="1219809242"/>
                    </a:ext>
                  </a:extLst>
                </a:gridCol>
                <a:gridCol w="1400559">
                  <a:extLst>
                    <a:ext uri="{9D8B030D-6E8A-4147-A177-3AD203B41FA5}">
                      <a16:colId xmlns:a16="http://schemas.microsoft.com/office/drawing/2014/main" val="1161331321"/>
                    </a:ext>
                  </a:extLst>
                </a:gridCol>
                <a:gridCol w="3199944">
                  <a:extLst>
                    <a:ext uri="{9D8B030D-6E8A-4147-A177-3AD203B41FA5}">
                      <a16:colId xmlns:a16="http://schemas.microsoft.com/office/drawing/2014/main" val="2937950603"/>
                    </a:ext>
                  </a:extLst>
                </a:gridCol>
              </a:tblGrid>
              <a:tr h="307513">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Key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Code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Name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46044200"/>
                  </a:ext>
                </a:extLst>
              </a:tr>
              <a:tr h="307513">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S10_1678</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1969 Harley Davidson Ultimate Chopper</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373429672"/>
                  </a:ext>
                </a:extLst>
              </a:tr>
              <a:tr h="307513">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S10_1949</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1952 Alpine Renault 1300</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418165430"/>
                  </a:ext>
                </a:extLst>
              </a:tr>
            </a:tbl>
          </a:graphicData>
        </a:graphic>
      </p:graphicFrame>
      <p:graphicFrame>
        <p:nvGraphicFramePr>
          <p:cNvPr id="18" name="Table 17">
            <a:extLst>
              <a:ext uri="{FF2B5EF4-FFF2-40B4-BE49-F238E27FC236}">
                <a16:creationId xmlns:a16="http://schemas.microsoft.com/office/drawing/2014/main" id="{C9118F47-64BA-4DF1-91DC-2A9119690FE7}"/>
              </a:ext>
            </a:extLst>
          </p:cNvPr>
          <p:cNvGraphicFramePr>
            <a:graphicFrameLocks noGrp="1"/>
          </p:cNvGraphicFramePr>
          <p:nvPr>
            <p:extLst>
              <p:ext uri="{D42A27DB-BD31-4B8C-83A1-F6EECF244321}">
                <p14:modId xmlns:p14="http://schemas.microsoft.com/office/powerpoint/2010/main" val="172694050"/>
              </p:ext>
            </p:extLst>
          </p:nvPr>
        </p:nvGraphicFramePr>
        <p:xfrm>
          <a:off x="191206" y="3123096"/>
          <a:ext cx="3106156" cy="1266855"/>
        </p:xfrm>
        <a:graphic>
          <a:graphicData uri="http://schemas.openxmlformats.org/drawingml/2006/table">
            <a:tbl>
              <a:tblPr/>
              <a:tblGrid>
                <a:gridCol w="752377">
                  <a:extLst>
                    <a:ext uri="{9D8B030D-6E8A-4147-A177-3AD203B41FA5}">
                      <a16:colId xmlns:a16="http://schemas.microsoft.com/office/drawing/2014/main" val="3775517595"/>
                    </a:ext>
                  </a:extLst>
                </a:gridCol>
                <a:gridCol w="807396">
                  <a:extLst>
                    <a:ext uri="{9D8B030D-6E8A-4147-A177-3AD203B41FA5}">
                      <a16:colId xmlns:a16="http://schemas.microsoft.com/office/drawing/2014/main" val="2020142939"/>
                    </a:ext>
                  </a:extLst>
                </a:gridCol>
                <a:gridCol w="768169">
                  <a:extLst>
                    <a:ext uri="{9D8B030D-6E8A-4147-A177-3AD203B41FA5}">
                      <a16:colId xmlns:a16="http://schemas.microsoft.com/office/drawing/2014/main" val="513344135"/>
                    </a:ext>
                  </a:extLst>
                </a:gridCol>
                <a:gridCol w="778214">
                  <a:extLst>
                    <a:ext uri="{9D8B030D-6E8A-4147-A177-3AD203B41FA5}">
                      <a16:colId xmlns:a16="http://schemas.microsoft.com/office/drawing/2014/main" val="92279237"/>
                    </a:ext>
                  </a:extLst>
                </a:gridCol>
              </a:tblGrid>
              <a:tr h="627919">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Number</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Last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First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02228468"/>
                  </a:ext>
                </a:extLst>
              </a:tr>
              <a:tr h="319468">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Murphy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Diane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390244383"/>
                  </a:ext>
                </a:extLst>
              </a:tr>
              <a:tr h="319468">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1056</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Patterson</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Mary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2352921467"/>
                  </a:ext>
                </a:extLst>
              </a:tr>
            </a:tbl>
          </a:graphicData>
        </a:graphic>
      </p:graphicFrame>
      <p:graphicFrame>
        <p:nvGraphicFramePr>
          <p:cNvPr id="20" name="Table 19">
            <a:extLst>
              <a:ext uri="{FF2B5EF4-FFF2-40B4-BE49-F238E27FC236}">
                <a16:creationId xmlns:a16="http://schemas.microsoft.com/office/drawing/2014/main" id="{F8F89A27-D4D5-4760-8338-7D4361DE7265}"/>
              </a:ext>
            </a:extLst>
          </p:cNvPr>
          <p:cNvGraphicFramePr>
            <a:graphicFrameLocks noGrp="1"/>
          </p:cNvGraphicFramePr>
          <p:nvPr>
            <p:extLst>
              <p:ext uri="{D42A27DB-BD31-4B8C-83A1-F6EECF244321}">
                <p14:modId xmlns:p14="http://schemas.microsoft.com/office/powerpoint/2010/main" val="1005558091"/>
              </p:ext>
            </p:extLst>
          </p:nvPr>
        </p:nvGraphicFramePr>
        <p:xfrm>
          <a:off x="8962913" y="3123096"/>
          <a:ext cx="2895388" cy="1266854"/>
        </p:xfrm>
        <a:graphic>
          <a:graphicData uri="http://schemas.openxmlformats.org/drawingml/2006/table">
            <a:tbl>
              <a:tblPr/>
              <a:tblGrid>
                <a:gridCol w="764747">
                  <a:extLst>
                    <a:ext uri="{9D8B030D-6E8A-4147-A177-3AD203B41FA5}">
                      <a16:colId xmlns:a16="http://schemas.microsoft.com/office/drawing/2014/main" val="3835906864"/>
                    </a:ext>
                  </a:extLst>
                </a:gridCol>
                <a:gridCol w="1002845">
                  <a:extLst>
                    <a:ext uri="{9D8B030D-6E8A-4147-A177-3AD203B41FA5}">
                      <a16:colId xmlns:a16="http://schemas.microsoft.com/office/drawing/2014/main" val="3871820976"/>
                    </a:ext>
                  </a:extLst>
                </a:gridCol>
                <a:gridCol w="1127796">
                  <a:extLst>
                    <a:ext uri="{9D8B030D-6E8A-4147-A177-3AD203B41FA5}">
                      <a16:colId xmlns:a16="http://schemas.microsoft.com/office/drawing/2014/main" val="2353893061"/>
                    </a:ext>
                  </a:extLst>
                </a:gridCol>
              </a:tblGrid>
              <a:tr h="387838">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Number</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692186885"/>
                  </a:ext>
                </a:extLst>
              </a:tr>
              <a:tr h="385395">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Atelier </a:t>
                      </a:r>
                      <a:r>
                        <a:rPr lang="en-US" sz="1200" b="0" i="0" u="none" strike="noStrike" kern="1200" err="1">
                          <a:solidFill>
                            <a:srgbClr val="000000"/>
                          </a:solidFill>
                          <a:effectLst/>
                          <a:latin typeface="Calibri" panose="020F0502020204030204" pitchFamily="34" charset="0"/>
                          <a:ea typeface="+mn-ea"/>
                          <a:cs typeface="+mn-cs"/>
                        </a:rPr>
                        <a:t>graphique</a:t>
                      </a:r>
                      <a:endParaRPr lang="en-US" sz="1200" b="0" i="0" u="none" strike="noStrike" kern="1200">
                        <a:solidFill>
                          <a:srgbClr val="000000"/>
                        </a:solidFill>
                        <a:effectLst/>
                        <a:latin typeface="Calibri" panose="020F0502020204030204" pitchFamily="34" charset="0"/>
                        <a:ea typeface="+mn-ea"/>
                        <a:cs typeface="+mn-cs"/>
                      </a:endParaRP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696444543"/>
                  </a:ext>
                </a:extLst>
              </a:tr>
              <a:tr h="447119">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112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Signal Gift Stores</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775106400"/>
                  </a:ext>
                </a:extLst>
              </a:tr>
            </a:tbl>
          </a:graphicData>
        </a:graphic>
      </p:graphicFrame>
      <p:graphicFrame>
        <p:nvGraphicFramePr>
          <p:cNvPr id="22" name="Table 21">
            <a:extLst>
              <a:ext uri="{FF2B5EF4-FFF2-40B4-BE49-F238E27FC236}">
                <a16:creationId xmlns:a16="http://schemas.microsoft.com/office/drawing/2014/main" id="{DAC76940-7A8F-46C3-99B1-4F72074F9393}"/>
              </a:ext>
            </a:extLst>
          </p:cNvPr>
          <p:cNvGraphicFramePr>
            <a:graphicFrameLocks noGrp="1"/>
          </p:cNvGraphicFramePr>
          <p:nvPr>
            <p:extLst>
              <p:ext uri="{D42A27DB-BD31-4B8C-83A1-F6EECF244321}">
                <p14:modId xmlns:p14="http://schemas.microsoft.com/office/powerpoint/2010/main" val="2723609720"/>
              </p:ext>
            </p:extLst>
          </p:nvPr>
        </p:nvGraphicFramePr>
        <p:xfrm>
          <a:off x="3746384" y="2849174"/>
          <a:ext cx="4699232" cy="1301272"/>
        </p:xfrm>
        <a:graphic>
          <a:graphicData uri="http://schemas.openxmlformats.org/drawingml/2006/table">
            <a:tbl>
              <a:tblPr/>
              <a:tblGrid>
                <a:gridCol w="516338">
                  <a:extLst>
                    <a:ext uri="{9D8B030D-6E8A-4147-A177-3AD203B41FA5}">
                      <a16:colId xmlns:a16="http://schemas.microsoft.com/office/drawing/2014/main" val="2654791242"/>
                    </a:ext>
                  </a:extLst>
                </a:gridCol>
                <a:gridCol w="574377">
                  <a:extLst>
                    <a:ext uri="{9D8B030D-6E8A-4147-A177-3AD203B41FA5}">
                      <a16:colId xmlns:a16="http://schemas.microsoft.com/office/drawing/2014/main" val="4185013036"/>
                    </a:ext>
                  </a:extLst>
                </a:gridCol>
                <a:gridCol w="641580">
                  <a:extLst>
                    <a:ext uri="{9D8B030D-6E8A-4147-A177-3AD203B41FA5}">
                      <a16:colId xmlns:a16="http://schemas.microsoft.com/office/drawing/2014/main" val="1981157290"/>
                    </a:ext>
                  </a:extLst>
                </a:gridCol>
                <a:gridCol w="758758">
                  <a:extLst>
                    <a:ext uri="{9D8B030D-6E8A-4147-A177-3AD203B41FA5}">
                      <a16:colId xmlns:a16="http://schemas.microsoft.com/office/drawing/2014/main" val="1109126165"/>
                    </a:ext>
                  </a:extLst>
                </a:gridCol>
                <a:gridCol w="805389">
                  <a:extLst>
                    <a:ext uri="{9D8B030D-6E8A-4147-A177-3AD203B41FA5}">
                      <a16:colId xmlns:a16="http://schemas.microsoft.com/office/drawing/2014/main" val="3487524220"/>
                    </a:ext>
                  </a:extLst>
                </a:gridCol>
                <a:gridCol w="750855">
                  <a:extLst>
                    <a:ext uri="{9D8B030D-6E8A-4147-A177-3AD203B41FA5}">
                      <a16:colId xmlns:a16="http://schemas.microsoft.com/office/drawing/2014/main" val="3751233696"/>
                    </a:ext>
                  </a:extLst>
                </a:gridCol>
                <a:gridCol w="651935">
                  <a:extLst>
                    <a:ext uri="{9D8B030D-6E8A-4147-A177-3AD203B41FA5}">
                      <a16:colId xmlns:a16="http://schemas.microsoft.com/office/drawing/2014/main" val="4180255315"/>
                    </a:ext>
                  </a:extLst>
                </a:gridCol>
              </a:tblGrid>
              <a:tr h="642303">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Sale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Time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Required Date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Shipped Date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571014949"/>
                  </a:ext>
                </a:extLst>
              </a:tr>
              <a:tr h="326786">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3202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121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831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822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980988632"/>
                  </a:ext>
                </a:extLst>
              </a:tr>
              <a:tr h="326786">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3202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113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25</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705</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698</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233401603"/>
                  </a:ext>
                </a:extLst>
              </a:tr>
            </a:tbl>
          </a:graphicData>
        </a:graphic>
      </p:graphicFrame>
      <p:cxnSp>
        <p:nvCxnSpPr>
          <p:cNvPr id="31" name="Straight Arrow Connector 30">
            <a:extLst>
              <a:ext uri="{FF2B5EF4-FFF2-40B4-BE49-F238E27FC236}">
                <a16:creationId xmlns:a16="http://schemas.microsoft.com/office/drawing/2014/main" id="{30FB3B1D-7FFA-4339-8BC5-9A5264567DD7}"/>
              </a:ext>
            </a:extLst>
          </p:cNvPr>
          <p:cNvCxnSpPr>
            <a:cxnSpLocks/>
          </p:cNvCxnSpPr>
          <p:nvPr/>
        </p:nvCxnSpPr>
        <p:spPr>
          <a:xfrm>
            <a:off x="3905267" y="4994794"/>
            <a:ext cx="0" cy="56617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D58CA6C-1E0C-47AF-A8E3-5E4BEC289CC1}"/>
              </a:ext>
            </a:extLst>
          </p:cNvPr>
          <p:cNvCxnSpPr>
            <a:cxnSpLocks/>
          </p:cNvCxnSpPr>
          <p:nvPr/>
        </p:nvCxnSpPr>
        <p:spPr>
          <a:xfrm>
            <a:off x="5165387" y="4145049"/>
            <a:ext cx="0" cy="849745"/>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A3F5D1-4A6E-4E7B-B700-984E48E917D7}"/>
              </a:ext>
            </a:extLst>
          </p:cNvPr>
          <p:cNvCxnSpPr>
            <a:cxnSpLocks/>
          </p:cNvCxnSpPr>
          <p:nvPr/>
        </p:nvCxnSpPr>
        <p:spPr>
          <a:xfrm flipV="1">
            <a:off x="3905267" y="4994794"/>
            <a:ext cx="1260120" cy="1"/>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A3F65B3-C03B-456A-9D4C-4F161D9D2C7A}"/>
              </a:ext>
            </a:extLst>
          </p:cNvPr>
          <p:cNvCxnSpPr>
            <a:cxnSpLocks/>
          </p:cNvCxnSpPr>
          <p:nvPr/>
        </p:nvCxnSpPr>
        <p:spPr>
          <a:xfrm>
            <a:off x="5891719" y="4145048"/>
            <a:ext cx="0" cy="849745"/>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E570AB7-E293-4DE9-81E6-9B9818E7F48D}"/>
              </a:ext>
            </a:extLst>
          </p:cNvPr>
          <p:cNvCxnSpPr>
            <a:cxnSpLocks/>
          </p:cNvCxnSpPr>
          <p:nvPr/>
        </p:nvCxnSpPr>
        <p:spPr>
          <a:xfrm flipV="1">
            <a:off x="5891719" y="4952207"/>
            <a:ext cx="3524655" cy="232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11CAFCC-6E65-4A82-AE0F-43C173DB97C4}"/>
              </a:ext>
            </a:extLst>
          </p:cNvPr>
          <p:cNvSpPr txBox="1"/>
          <p:nvPr/>
        </p:nvSpPr>
        <p:spPr>
          <a:xfrm>
            <a:off x="8399057" y="919024"/>
            <a:ext cx="3459244" cy="1077218"/>
          </a:xfrm>
          <a:prstGeom prst="rect">
            <a:avLst/>
          </a:prstGeom>
          <a:noFill/>
        </p:spPr>
        <p:txBody>
          <a:bodyPr wrap="square">
            <a:spAutoFit/>
          </a:bodyPr>
          <a:lstStyle/>
          <a:p>
            <a:r>
              <a:rPr lang="en-US" sz="1600" b="1" i="1">
                <a:solidFill>
                  <a:srgbClr val="202124"/>
                </a:solidFill>
                <a:effectLst/>
                <a:latin typeface="arial" panose="020B0604020202020204" pitchFamily="34" charset="0"/>
              </a:rPr>
              <a:t>Role-Playing Dimension</a:t>
            </a:r>
            <a:r>
              <a:rPr lang="en-US" sz="1600" b="0" i="1">
                <a:solidFill>
                  <a:srgbClr val="202124"/>
                </a:solidFill>
                <a:effectLst/>
                <a:latin typeface="arial" panose="020B0604020202020204" pitchFamily="34" charset="0"/>
              </a:rPr>
              <a:t> because it used multiple times within the same fact (</a:t>
            </a:r>
            <a:r>
              <a:rPr lang="en-US" sz="1600" b="0" i="1" err="1">
                <a:solidFill>
                  <a:srgbClr val="202124"/>
                </a:solidFill>
                <a:effectLst/>
                <a:latin typeface="arial" panose="020B0604020202020204" pitchFamily="34" charset="0"/>
              </a:rPr>
              <a:t>factsale</a:t>
            </a:r>
            <a:r>
              <a:rPr lang="en-US" sz="1600" b="0" i="1">
                <a:solidFill>
                  <a:srgbClr val="202124"/>
                </a:solidFill>
                <a:effectLst/>
                <a:latin typeface="arial" panose="020B0604020202020204" pitchFamily="34" charset="0"/>
              </a:rPr>
              <a:t>) but with different meanings</a:t>
            </a:r>
            <a:endParaRPr lang="en-US" sz="1600" i="1"/>
          </a:p>
        </p:txBody>
      </p:sp>
      <p:cxnSp>
        <p:nvCxnSpPr>
          <p:cNvPr id="45" name="Connector: Curved 44">
            <a:extLst>
              <a:ext uri="{FF2B5EF4-FFF2-40B4-BE49-F238E27FC236}">
                <a16:creationId xmlns:a16="http://schemas.microsoft.com/office/drawing/2014/main" id="{BEAF532F-77CF-4D80-95E9-0C8EB957772E}"/>
              </a:ext>
            </a:extLst>
          </p:cNvPr>
          <p:cNvCxnSpPr>
            <a:cxnSpLocks/>
          </p:cNvCxnSpPr>
          <p:nvPr/>
        </p:nvCxnSpPr>
        <p:spPr>
          <a:xfrm rot="10800000" flipV="1">
            <a:off x="7723764" y="1128409"/>
            <a:ext cx="573930" cy="340468"/>
          </a:xfrm>
          <a:prstGeom prst="curvedConnector3">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47" name="TextBox 46">
            <a:extLst>
              <a:ext uri="{FF2B5EF4-FFF2-40B4-BE49-F238E27FC236}">
                <a16:creationId xmlns:a16="http://schemas.microsoft.com/office/drawing/2014/main" id="{2DB4D637-A151-4F61-98C9-E68FB58B80B4}"/>
              </a:ext>
            </a:extLst>
          </p:cNvPr>
          <p:cNvSpPr txBox="1"/>
          <p:nvPr/>
        </p:nvSpPr>
        <p:spPr>
          <a:xfrm>
            <a:off x="4487443" y="2513861"/>
            <a:ext cx="3459244" cy="338554"/>
          </a:xfrm>
          <a:prstGeom prst="rect">
            <a:avLst/>
          </a:prstGeom>
          <a:noFill/>
        </p:spPr>
        <p:txBody>
          <a:bodyPr wrap="square">
            <a:spAutoFit/>
          </a:bodyPr>
          <a:lstStyle/>
          <a:p>
            <a:r>
              <a:rPr lang="en-US" sz="1600" b="1" i="1" err="1">
                <a:solidFill>
                  <a:srgbClr val="202124"/>
                </a:solidFill>
                <a:latin typeface="arial" panose="020B0604020202020204" pitchFamily="34" charset="0"/>
              </a:rPr>
              <a:t>factSale</a:t>
            </a:r>
            <a:endParaRPr lang="en-US" sz="1600" i="1"/>
          </a:p>
        </p:txBody>
      </p:sp>
      <p:sp>
        <p:nvSpPr>
          <p:cNvPr id="48" name="TextBox 47">
            <a:extLst>
              <a:ext uri="{FF2B5EF4-FFF2-40B4-BE49-F238E27FC236}">
                <a16:creationId xmlns:a16="http://schemas.microsoft.com/office/drawing/2014/main" id="{1A4B3D5C-0526-4562-A6A2-05549FE975DC}"/>
              </a:ext>
            </a:extLst>
          </p:cNvPr>
          <p:cNvSpPr txBox="1"/>
          <p:nvPr/>
        </p:nvSpPr>
        <p:spPr>
          <a:xfrm>
            <a:off x="4510285" y="720415"/>
            <a:ext cx="3459244" cy="338554"/>
          </a:xfrm>
          <a:prstGeom prst="rect">
            <a:avLst/>
          </a:prstGeom>
          <a:noFill/>
        </p:spPr>
        <p:txBody>
          <a:bodyPr wrap="square">
            <a:spAutoFit/>
          </a:bodyPr>
          <a:lstStyle/>
          <a:p>
            <a:r>
              <a:rPr lang="en-US" sz="1600" b="1" i="1" err="1">
                <a:solidFill>
                  <a:srgbClr val="202124"/>
                </a:solidFill>
                <a:latin typeface="arial" panose="020B0604020202020204" pitchFamily="34" charset="0"/>
              </a:rPr>
              <a:t>dimTime</a:t>
            </a:r>
            <a:endParaRPr lang="en-US" sz="1600" i="1"/>
          </a:p>
        </p:txBody>
      </p:sp>
      <p:grpSp>
        <p:nvGrpSpPr>
          <p:cNvPr id="51" name="Group 50">
            <a:extLst>
              <a:ext uri="{FF2B5EF4-FFF2-40B4-BE49-F238E27FC236}">
                <a16:creationId xmlns:a16="http://schemas.microsoft.com/office/drawing/2014/main" id="{43096558-A102-4604-BD39-9583698C6F3D}"/>
              </a:ext>
            </a:extLst>
          </p:cNvPr>
          <p:cNvGrpSpPr/>
          <p:nvPr/>
        </p:nvGrpSpPr>
        <p:grpSpPr>
          <a:xfrm>
            <a:off x="3797312" y="4177643"/>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49" name="Rectangle 48">
              <a:extLst>
                <a:ext uri="{FF2B5EF4-FFF2-40B4-BE49-F238E27FC236}">
                  <a16:creationId xmlns:a16="http://schemas.microsoft.com/office/drawing/2014/main" id="{80F75CB9-56FB-4BAF-A305-18DB6F6D86F6}"/>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 name="TextBox 49">
              <a:extLst>
                <a:ext uri="{FF2B5EF4-FFF2-40B4-BE49-F238E27FC236}">
                  <a16:creationId xmlns:a16="http://schemas.microsoft.com/office/drawing/2014/main" id="{435D2647-BD48-41BE-8292-B12B8CC25D62}"/>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52" name="Group 51">
            <a:extLst>
              <a:ext uri="{FF2B5EF4-FFF2-40B4-BE49-F238E27FC236}">
                <a16:creationId xmlns:a16="http://schemas.microsoft.com/office/drawing/2014/main" id="{23B8B4D8-7D20-40FF-80AA-5CFA102CF0C6}"/>
              </a:ext>
            </a:extLst>
          </p:cNvPr>
          <p:cNvGrpSpPr/>
          <p:nvPr/>
        </p:nvGrpSpPr>
        <p:grpSpPr>
          <a:xfrm>
            <a:off x="4346218"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3" name="Rectangle 52">
              <a:extLst>
                <a:ext uri="{FF2B5EF4-FFF2-40B4-BE49-F238E27FC236}">
                  <a16:creationId xmlns:a16="http://schemas.microsoft.com/office/drawing/2014/main" id="{950818A8-7321-4C9D-80A5-28883B1602CB}"/>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TextBox 53">
              <a:extLst>
                <a:ext uri="{FF2B5EF4-FFF2-40B4-BE49-F238E27FC236}">
                  <a16:creationId xmlns:a16="http://schemas.microsoft.com/office/drawing/2014/main" id="{5DF4A9A1-A0EA-4EC7-A8DE-5D2D6A66ABED}"/>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25" name="Group 24">
            <a:extLst>
              <a:ext uri="{FF2B5EF4-FFF2-40B4-BE49-F238E27FC236}">
                <a16:creationId xmlns:a16="http://schemas.microsoft.com/office/drawing/2014/main" id="{1608D1C9-B99C-4CC1-978B-C383277ED7F3}"/>
              </a:ext>
            </a:extLst>
          </p:cNvPr>
          <p:cNvGrpSpPr/>
          <p:nvPr/>
        </p:nvGrpSpPr>
        <p:grpSpPr>
          <a:xfrm>
            <a:off x="4907984"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26" name="Rectangle 25">
              <a:extLst>
                <a:ext uri="{FF2B5EF4-FFF2-40B4-BE49-F238E27FC236}">
                  <a16:creationId xmlns:a16="http://schemas.microsoft.com/office/drawing/2014/main" id="{9C5248CE-063A-4DF2-BF8B-3CBDD6A23156}"/>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46B5DE28-2B97-4C36-9FE6-EDAEA1D6D2D5}"/>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28" name="Group 27">
            <a:extLst>
              <a:ext uri="{FF2B5EF4-FFF2-40B4-BE49-F238E27FC236}">
                <a16:creationId xmlns:a16="http://schemas.microsoft.com/office/drawing/2014/main" id="{1B74D6E0-AEA4-4A2B-ABD2-C9B2E27D8462}"/>
              </a:ext>
            </a:extLst>
          </p:cNvPr>
          <p:cNvGrpSpPr/>
          <p:nvPr/>
        </p:nvGrpSpPr>
        <p:grpSpPr>
          <a:xfrm>
            <a:off x="5631050"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29" name="Rectangle 28">
              <a:extLst>
                <a:ext uri="{FF2B5EF4-FFF2-40B4-BE49-F238E27FC236}">
                  <a16:creationId xmlns:a16="http://schemas.microsoft.com/office/drawing/2014/main" id="{CDA0A80D-0B97-4CA6-AD1F-8E77333201A7}"/>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TextBox 29">
              <a:extLst>
                <a:ext uri="{FF2B5EF4-FFF2-40B4-BE49-F238E27FC236}">
                  <a16:creationId xmlns:a16="http://schemas.microsoft.com/office/drawing/2014/main" id="{E805AECF-6C0A-4510-A48A-B1043ED651AE}"/>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32" name="Group 31">
            <a:extLst>
              <a:ext uri="{FF2B5EF4-FFF2-40B4-BE49-F238E27FC236}">
                <a16:creationId xmlns:a16="http://schemas.microsoft.com/office/drawing/2014/main" id="{A790E1E6-DD18-4866-8730-223A4FB328E1}"/>
              </a:ext>
            </a:extLst>
          </p:cNvPr>
          <p:cNvGrpSpPr/>
          <p:nvPr/>
        </p:nvGrpSpPr>
        <p:grpSpPr>
          <a:xfrm>
            <a:off x="6420860"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34" name="Rectangle 33">
              <a:extLst>
                <a:ext uri="{FF2B5EF4-FFF2-40B4-BE49-F238E27FC236}">
                  <a16:creationId xmlns:a16="http://schemas.microsoft.com/office/drawing/2014/main" id="{0F0F60C6-4518-4367-8C67-A951EA907CB1}"/>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TextBox 35">
              <a:extLst>
                <a:ext uri="{FF2B5EF4-FFF2-40B4-BE49-F238E27FC236}">
                  <a16:creationId xmlns:a16="http://schemas.microsoft.com/office/drawing/2014/main" id="{EDF8385A-3EB1-4965-9CF1-35EC992D8576}"/>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37" name="Group 36">
            <a:extLst>
              <a:ext uri="{FF2B5EF4-FFF2-40B4-BE49-F238E27FC236}">
                <a16:creationId xmlns:a16="http://schemas.microsoft.com/office/drawing/2014/main" id="{AA0DF8DC-ABEC-42FA-B575-DF4C60298170}"/>
              </a:ext>
            </a:extLst>
          </p:cNvPr>
          <p:cNvGrpSpPr/>
          <p:nvPr/>
        </p:nvGrpSpPr>
        <p:grpSpPr>
          <a:xfrm>
            <a:off x="7199546"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38" name="Rectangle 37">
              <a:extLst>
                <a:ext uri="{FF2B5EF4-FFF2-40B4-BE49-F238E27FC236}">
                  <a16:creationId xmlns:a16="http://schemas.microsoft.com/office/drawing/2014/main" id="{B2FFCB36-732A-4FA8-B7E7-1E2BD8D03104}"/>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TextBox 40">
              <a:extLst>
                <a:ext uri="{FF2B5EF4-FFF2-40B4-BE49-F238E27FC236}">
                  <a16:creationId xmlns:a16="http://schemas.microsoft.com/office/drawing/2014/main" id="{507A1632-DF4C-4ED4-AB16-518A4D0B4DEC}"/>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42" name="Group 41">
            <a:extLst>
              <a:ext uri="{FF2B5EF4-FFF2-40B4-BE49-F238E27FC236}">
                <a16:creationId xmlns:a16="http://schemas.microsoft.com/office/drawing/2014/main" id="{C2409014-A913-4D03-86A0-4E49CE6311FE}"/>
              </a:ext>
            </a:extLst>
          </p:cNvPr>
          <p:cNvGrpSpPr/>
          <p:nvPr/>
        </p:nvGrpSpPr>
        <p:grpSpPr>
          <a:xfrm>
            <a:off x="7939298"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44" name="Rectangle 43">
              <a:extLst>
                <a:ext uri="{FF2B5EF4-FFF2-40B4-BE49-F238E27FC236}">
                  <a16:creationId xmlns:a16="http://schemas.microsoft.com/office/drawing/2014/main" id="{A3B8881A-7113-4758-B680-1E7B6430E081}"/>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 name="TextBox 45">
              <a:extLst>
                <a:ext uri="{FF2B5EF4-FFF2-40B4-BE49-F238E27FC236}">
                  <a16:creationId xmlns:a16="http://schemas.microsoft.com/office/drawing/2014/main" id="{332A49AA-4B65-4307-9624-14F9DA84DF4E}"/>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55" name="Group 54">
            <a:extLst>
              <a:ext uri="{FF2B5EF4-FFF2-40B4-BE49-F238E27FC236}">
                <a16:creationId xmlns:a16="http://schemas.microsoft.com/office/drawing/2014/main" id="{CC306A9B-F4A2-49A5-ABF6-F27DE5A1CF8F}"/>
              </a:ext>
            </a:extLst>
          </p:cNvPr>
          <p:cNvGrpSpPr/>
          <p:nvPr/>
        </p:nvGrpSpPr>
        <p:grpSpPr>
          <a:xfrm>
            <a:off x="359969" y="4433497"/>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6" name="Rectangle 55">
              <a:extLst>
                <a:ext uri="{FF2B5EF4-FFF2-40B4-BE49-F238E27FC236}">
                  <a16:creationId xmlns:a16="http://schemas.microsoft.com/office/drawing/2014/main" id="{378D7244-A23D-420C-9F3F-5A335CFC6F54}"/>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4DDDAB71-0239-4C2A-81F5-09E2BD935D5B}"/>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58" name="Group 57">
            <a:extLst>
              <a:ext uri="{FF2B5EF4-FFF2-40B4-BE49-F238E27FC236}">
                <a16:creationId xmlns:a16="http://schemas.microsoft.com/office/drawing/2014/main" id="{2DC044EE-B389-4C9B-88CC-14D456CD1C50}"/>
              </a:ext>
            </a:extLst>
          </p:cNvPr>
          <p:cNvGrpSpPr/>
          <p:nvPr/>
        </p:nvGrpSpPr>
        <p:grpSpPr>
          <a:xfrm>
            <a:off x="4842226" y="215138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9" name="Rectangle 58">
              <a:extLst>
                <a:ext uri="{FF2B5EF4-FFF2-40B4-BE49-F238E27FC236}">
                  <a16:creationId xmlns:a16="http://schemas.microsoft.com/office/drawing/2014/main" id="{990D8DD2-23C2-45B0-828E-B63A09C0397A}"/>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0" name="TextBox 59">
              <a:extLst>
                <a:ext uri="{FF2B5EF4-FFF2-40B4-BE49-F238E27FC236}">
                  <a16:creationId xmlns:a16="http://schemas.microsoft.com/office/drawing/2014/main" id="{05E68D04-01AA-46A7-8F56-576D5C680346}"/>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61" name="Group 60">
            <a:extLst>
              <a:ext uri="{FF2B5EF4-FFF2-40B4-BE49-F238E27FC236}">
                <a16:creationId xmlns:a16="http://schemas.microsoft.com/office/drawing/2014/main" id="{84538C0C-67EF-4E9B-BD3B-19B9708FDCFF}"/>
              </a:ext>
            </a:extLst>
          </p:cNvPr>
          <p:cNvGrpSpPr/>
          <p:nvPr/>
        </p:nvGrpSpPr>
        <p:grpSpPr>
          <a:xfrm>
            <a:off x="9192494" y="4433497"/>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62" name="Rectangle 61">
              <a:extLst>
                <a:ext uri="{FF2B5EF4-FFF2-40B4-BE49-F238E27FC236}">
                  <a16:creationId xmlns:a16="http://schemas.microsoft.com/office/drawing/2014/main" id="{9DDC1760-A83F-4E41-98CE-6E7310424568}"/>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TextBox 62">
              <a:extLst>
                <a:ext uri="{FF2B5EF4-FFF2-40B4-BE49-F238E27FC236}">
                  <a16:creationId xmlns:a16="http://schemas.microsoft.com/office/drawing/2014/main" id="{0659CBA7-9BA5-43B5-92F3-B2CCC99D3581}"/>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64" name="Group 63">
            <a:extLst>
              <a:ext uri="{FF2B5EF4-FFF2-40B4-BE49-F238E27FC236}">
                <a16:creationId xmlns:a16="http://schemas.microsoft.com/office/drawing/2014/main" id="{991773D0-4242-405C-BF89-34BEDC179A34}"/>
              </a:ext>
            </a:extLst>
          </p:cNvPr>
          <p:cNvGrpSpPr/>
          <p:nvPr/>
        </p:nvGrpSpPr>
        <p:grpSpPr>
          <a:xfrm>
            <a:off x="3741691" y="6508139"/>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65" name="Rectangle 64">
              <a:extLst>
                <a:ext uri="{FF2B5EF4-FFF2-40B4-BE49-F238E27FC236}">
                  <a16:creationId xmlns:a16="http://schemas.microsoft.com/office/drawing/2014/main" id="{24FDD8A2-898E-4E2B-A09A-18E09EF5B0D2}"/>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TextBox 65">
              <a:extLst>
                <a:ext uri="{FF2B5EF4-FFF2-40B4-BE49-F238E27FC236}">
                  <a16:creationId xmlns:a16="http://schemas.microsoft.com/office/drawing/2014/main" id="{7CE8C40F-AC13-4022-BE05-D28074E4672A}"/>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cxnSp>
        <p:nvCxnSpPr>
          <p:cNvPr id="68" name="Straight Connector 67">
            <a:extLst>
              <a:ext uri="{FF2B5EF4-FFF2-40B4-BE49-F238E27FC236}">
                <a16:creationId xmlns:a16="http://schemas.microsoft.com/office/drawing/2014/main" id="{4B798671-4E03-479F-9CFD-FD52B7D199E2}"/>
              </a:ext>
            </a:extLst>
          </p:cNvPr>
          <p:cNvCxnSpPr>
            <a:cxnSpLocks/>
          </p:cNvCxnSpPr>
          <p:nvPr/>
        </p:nvCxnSpPr>
        <p:spPr>
          <a:xfrm>
            <a:off x="6650452" y="2529488"/>
            <a:ext cx="0" cy="323919"/>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507F88F-CC8E-4D5D-9E29-4F8322F36C5F}"/>
              </a:ext>
            </a:extLst>
          </p:cNvPr>
          <p:cNvCxnSpPr>
            <a:cxnSpLocks/>
          </p:cNvCxnSpPr>
          <p:nvPr/>
        </p:nvCxnSpPr>
        <p:spPr>
          <a:xfrm>
            <a:off x="605579" y="2527994"/>
            <a:ext cx="6049039" cy="5561"/>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F0CE10E-E0B4-41D6-962E-86BF5B1FCC81}"/>
              </a:ext>
            </a:extLst>
          </p:cNvPr>
          <p:cNvCxnSpPr>
            <a:cxnSpLocks/>
          </p:cNvCxnSpPr>
          <p:nvPr/>
        </p:nvCxnSpPr>
        <p:spPr>
          <a:xfrm>
            <a:off x="608371" y="2527994"/>
            <a:ext cx="0" cy="61348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40546AA-00B4-46B1-94E6-F5E3103B01F3}"/>
              </a:ext>
            </a:extLst>
          </p:cNvPr>
          <p:cNvCxnSpPr>
            <a:cxnSpLocks/>
          </p:cNvCxnSpPr>
          <p:nvPr/>
        </p:nvCxnSpPr>
        <p:spPr>
          <a:xfrm>
            <a:off x="4453445" y="1247224"/>
            <a:ext cx="5562" cy="1606182"/>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759338A-A716-42D9-A87B-9D0A88346B93}"/>
              </a:ext>
            </a:extLst>
          </p:cNvPr>
          <p:cNvCxnSpPr>
            <a:cxnSpLocks/>
          </p:cNvCxnSpPr>
          <p:nvPr/>
        </p:nvCxnSpPr>
        <p:spPr>
          <a:xfrm>
            <a:off x="4455910" y="1262662"/>
            <a:ext cx="122364" cy="4405"/>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1132EBC7-D1A3-40D4-9B8A-3BE96ED7A4F6}"/>
              </a:ext>
            </a:extLst>
          </p:cNvPr>
          <p:cNvSpPr txBox="1"/>
          <p:nvPr/>
        </p:nvSpPr>
        <p:spPr>
          <a:xfrm>
            <a:off x="767680" y="2808649"/>
            <a:ext cx="3459244" cy="338554"/>
          </a:xfrm>
          <a:prstGeom prst="rect">
            <a:avLst/>
          </a:prstGeom>
          <a:noFill/>
        </p:spPr>
        <p:txBody>
          <a:bodyPr wrap="square" lIns="91440" tIns="45720" rIns="91440" bIns="45720" anchor="t">
            <a:spAutoFit/>
          </a:bodyPr>
          <a:lstStyle/>
          <a:p>
            <a:r>
              <a:rPr lang="en-US" sz="1600" b="1" i="1" err="1">
                <a:solidFill>
                  <a:srgbClr val="202124"/>
                </a:solidFill>
                <a:latin typeface="arial"/>
                <a:cs typeface="arial"/>
              </a:rPr>
              <a:t>dimEmployee</a:t>
            </a:r>
            <a:endParaRPr lang="en-US" sz="1600" b="1" i="1">
              <a:solidFill>
                <a:srgbClr val="202124"/>
              </a:solidFill>
              <a:latin typeface="arial"/>
              <a:cs typeface="arial"/>
            </a:endParaRPr>
          </a:p>
        </p:txBody>
      </p:sp>
      <p:sp>
        <p:nvSpPr>
          <p:cNvPr id="74" name="TextBox 73">
            <a:extLst>
              <a:ext uri="{FF2B5EF4-FFF2-40B4-BE49-F238E27FC236}">
                <a16:creationId xmlns:a16="http://schemas.microsoft.com/office/drawing/2014/main" id="{0E12A0C6-B88A-404E-9718-6D8984A08BB9}"/>
              </a:ext>
            </a:extLst>
          </p:cNvPr>
          <p:cNvSpPr txBox="1"/>
          <p:nvPr/>
        </p:nvSpPr>
        <p:spPr>
          <a:xfrm>
            <a:off x="4025793" y="5222576"/>
            <a:ext cx="3459244" cy="338554"/>
          </a:xfrm>
          <a:prstGeom prst="rect">
            <a:avLst/>
          </a:prstGeom>
          <a:noFill/>
        </p:spPr>
        <p:txBody>
          <a:bodyPr wrap="square" lIns="91440" tIns="45720" rIns="91440" bIns="45720" anchor="t">
            <a:spAutoFit/>
          </a:bodyPr>
          <a:lstStyle/>
          <a:p>
            <a:r>
              <a:rPr lang="en-US" sz="1600" b="1" i="1" err="1">
                <a:solidFill>
                  <a:srgbClr val="202124"/>
                </a:solidFill>
                <a:latin typeface="arial"/>
                <a:cs typeface="arial"/>
              </a:rPr>
              <a:t>dimProduct</a:t>
            </a:r>
          </a:p>
        </p:txBody>
      </p:sp>
      <p:sp>
        <p:nvSpPr>
          <p:cNvPr id="75" name="TextBox 74">
            <a:extLst>
              <a:ext uri="{FF2B5EF4-FFF2-40B4-BE49-F238E27FC236}">
                <a16:creationId xmlns:a16="http://schemas.microsoft.com/office/drawing/2014/main" id="{75FC05A2-073E-41FE-BC17-9A80ACFCA4F4}"/>
              </a:ext>
            </a:extLst>
          </p:cNvPr>
          <p:cNvSpPr txBox="1"/>
          <p:nvPr/>
        </p:nvSpPr>
        <p:spPr>
          <a:xfrm>
            <a:off x="9003822" y="2808649"/>
            <a:ext cx="3459244" cy="338554"/>
          </a:xfrm>
          <a:prstGeom prst="rect">
            <a:avLst/>
          </a:prstGeom>
          <a:noFill/>
        </p:spPr>
        <p:txBody>
          <a:bodyPr wrap="square" lIns="91440" tIns="45720" rIns="91440" bIns="45720" anchor="t">
            <a:spAutoFit/>
          </a:bodyPr>
          <a:lstStyle/>
          <a:p>
            <a:r>
              <a:rPr lang="en-US" sz="1600" b="1" i="1" err="1">
                <a:solidFill>
                  <a:srgbClr val="202124"/>
                </a:solidFill>
                <a:latin typeface="arial"/>
                <a:cs typeface="arial"/>
              </a:rPr>
              <a:t>dimCustomer</a:t>
            </a:r>
          </a:p>
        </p:txBody>
      </p:sp>
      <p:cxnSp>
        <p:nvCxnSpPr>
          <p:cNvPr id="76" name="Straight Connector 75">
            <a:extLst>
              <a:ext uri="{FF2B5EF4-FFF2-40B4-BE49-F238E27FC236}">
                <a16:creationId xmlns:a16="http://schemas.microsoft.com/office/drawing/2014/main" id="{9A8CD194-6472-46A3-BC92-3E03A5A795C4}"/>
              </a:ext>
            </a:extLst>
          </p:cNvPr>
          <p:cNvCxnSpPr>
            <a:cxnSpLocks/>
          </p:cNvCxnSpPr>
          <p:nvPr/>
        </p:nvCxnSpPr>
        <p:spPr>
          <a:xfrm flipH="1" flipV="1">
            <a:off x="7437138" y="2414620"/>
            <a:ext cx="1" cy="4345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3BABF7B-8992-4702-BD63-75227B0D8BF3}"/>
              </a:ext>
            </a:extLst>
          </p:cNvPr>
          <p:cNvCxnSpPr>
            <a:cxnSpLocks/>
          </p:cNvCxnSpPr>
          <p:nvPr/>
        </p:nvCxnSpPr>
        <p:spPr>
          <a:xfrm>
            <a:off x="4453445" y="2390225"/>
            <a:ext cx="3750641" cy="1413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9FDF618-3C5F-4309-B2A0-B4CD996113DE}"/>
              </a:ext>
            </a:extLst>
          </p:cNvPr>
          <p:cNvCxnSpPr>
            <a:cxnSpLocks/>
          </p:cNvCxnSpPr>
          <p:nvPr/>
        </p:nvCxnSpPr>
        <p:spPr>
          <a:xfrm flipH="1" flipV="1">
            <a:off x="8204085" y="2412655"/>
            <a:ext cx="1" cy="4345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8443D4B-C477-45ED-B87C-489856FF3416}"/>
              </a:ext>
            </a:extLst>
          </p:cNvPr>
          <p:cNvPicPr>
            <a:picLocks noChangeAspect="1"/>
          </p:cNvPicPr>
          <p:nvPr/>
        </p:nvPicPr>
        <p:blipFill>
          <a:blip r:embed="rId2"/>
          <a:stretch>
            <a:fillRect/>
          </a:stretch>
        </p:blipFill>
        <p:spPr>
          <a:xfrm>
            <a:off x="6222155" y="1933675"/>
            <a:ext cx="5486400" cy="2543175"/>
          </a:xfrm>
          <a:prstGeom prst="rect">
            <a:avLst/>
          </a:prstGeom>
        </p:spPr>
      </p:pic>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91315" y="43616"/>
            <a:ext cx="7828722" cy="438772"/>
          </a:xfrm>
        </p:spPr>
        <p:txBody>
          <a:bodyPr>
            <a:normAutofit fontScale="90000"/>
          </a:bodyPr>
          <a:lstStyle/>
          <a:p>
            <a:pPr marR="0" lvl="0" algn="just">
              <a:lnSpc>
                <a:spcPct val="105000"/>
              </a:lnSpc>
              <a:spcBef>
                <a:spcPts val="0"/>
              </a:spcBef>
              <a:spcAft>
                <a:spcPts val="600"/>
              </a:spcAft>
            </a:pPr>
            <a:r>
              <a:rPr lang="en-NZ" sz="2400">
                <a:solidFill>
                  <a:schemeClr val="bg1"/>
                </a:solidFill>
                <a:effectLst/>
                <a:ea typeface="Times New Roman" panose="02020603050405020304" pitchFamily="18" charset="0"/>
              </a:rPr>
              <a:t>Creating a new Integration Services Project</a:t>
            </a:r>
            <a:endParaRPr lang="en-NZ" sz="6600">
              <a:solidFill>
                <a:schemeClr val="bg1"/>
              </a:solidFill>
              <a:effectLst/>
              <a:ea typeface="Times New Roman" panose="02020603050405020304" pitchFamily="18" charset="0"/>
            </a:endParaRPr>
          </a:p>
        </p:txBody>
      </p:sp>
      <p:sp>
        <p:nvSpPr>
          <p:cNvPr id="21" name="TextBox 20">
            <a:extLst>
              <a:ext uri="{FF2B5EF4-FFF2-40B4-BE49-F238E27FC236}">
                <a16:creationId xmlns:a16="http://schemas.microsoft.com/office/drawing/2014/main" id="{33AF0D75-7044-4F28-81D6-9EDDC783A853}"/>
              </a:ext>
            </a:extLst>
          </p:cNvPr>
          <p:cNvSpPr txBox="1"/>
          <p:nvPr/>
        </p:nvSpPr>
        <p:spPr>
          <a:xfrm>
            <a:off x="272374" y="915763"/>
            <a:ext cx="5398852" cy="4278094"/>
          </a:xfrm>
          <a:prstGeom prst="rect">
            <a:avLst/>
          </a:prstGeom>
          <a:noFill/>
        </p:spPr>
        <p:txBody>
          <a:bodyPr wrap="square" lIns="91440" tIns="45720" rIns="91440" bIns="45720" anchor="t">
            <a:spAutoFit/>
          </a:bodyPr>
          <a:lstStyle/>
          <a:p>
            <a:pPr marL="342900" indent="-342900" algn="l">
              <a:buFont typeface="+mj-lt"/>
              <a:buAutoNum type="arabicPeriod"/>
            </a:pPr>
            <a:r>
              <a:rPr lang="en-US" sz="1600" i="0">
                <a:solidFill>
                  <a:srgbClr val="171717"/>
                </a:solidFill>
                <a:effectLst/>
              </a:rPr>
              <a:t>On the Windows Start menu, search for and select Visual Studio 2019 – We are using Visual Studio S 2019 for this Project</a:t>
            </a:r>
          </a:p>
          <a:p>
            <a:pPr marL="342900" indent="-342900" algn="l">
              <a:buFont typeface="+mj-lt"/>
              <a:buAutoNum type="arabicPeriod"/>
            </a:pPr>
            <a:endParaRPr lang="en-US" sz="1600" i="0">
              <a:solidFill>
                <a:srgbClr val="171717"/>
              </a:solidFill>
              <a:effectLst/>
            </a:endParaRPr>
          </a:p>
          <a:p>
            <a:pPr marL="342900" indent="-342900" algn="l">
              <a:buFont typeface="+mj-lt"/>
              <a:buAutoNum type="arabicPeriod"/>
            </a:pPr>
            <a:r>
              <a:rPr lang="en-US" sz="1600" i="0">
                <a:solidFill>
                  <a:srgbClr val="171717"/>
                </a:solidFill>
                <a:effectLst/>
              </a:rPr>
              <a:t>In Visual Studio, select Create a new Project &amp; search Integration Services Project</a:t>
            </a:r>
          </a:p>
          <a:p>
            <a:pPr marL="342900" indent="-342900" algn="l">
              <a:buFont typeface="+mj-lt"/>
              <a:buAutoNum type="arabicPeriod"/>
            </a:pPr>
            <a:endParaRPr lang="en-US" sz="1600">
              <a:solidFill>
                <a:srgbClr val="171717"/>
              </a:solidFill>
            </a:endParaRPr>
          </a:p>
          <a:p>
            <a:pPr marL="342900" indent="-342900" algn="l">
              <a:buFont typeface="+mj-lt"/>
              <a:buAutoNum type="arabicPeriod"/>
            </a:pPr>
            <a:r>
              <a:rPr lang="en-US" sz="1600" i="0">
                <a:solidFill>
                  <a:srgbClr val="171717"/>
                </a:solidFill>
                <a:effectLst/>
              </a:rPr>
              <a:t>Click Next</a:t>
            </a:r>
          </a:p>
          <a:p>
            <a:pPr marL="342900" indent="-342900" algn="l">
              <a:buFont typeface="+mj-lt"/>
              <a:buAutoNum type="arabicPeriod"/>
            </a:pPr>
            <a:endParaRPr lang="en-US" sz="1600" i="0">
              <a:solidFill>
                <a:srgbClr val="171717"/>
              </a:solidFill>
              <a:effectLst/>
            </a:endParaRPr>
          </a:p>
          <a:p>
            <a:pPr marL="342900" indent="-342900" algn="l">
              <a:buFont typeface="+mj-lt"/>
              <a:buAutoNum type="arabicPeriod"/>
            </a:pPr>
            <a:r>
              <a:rPr lang="en-US" sz="1600" i="0">
                <a:solidFill>
                  <a:srgbClr val="171717"/>
                </a:solidFill>
                <a:effectLst/>
              </a:rPr>
              <a:t>In the Configure your new project, enter a Project Name box, selection the location where you’d like to save the Project &amp; enter a solution name.</a:t>
            </a:r>
          </a:p>
          <a:p>
            <a:pPr marL="342900" indent="-342900" algn="l">
              <a:buFont typeface="+mj-lt"/>
              <a:buAutoNum type="arabicPeriod"/>
            </a:pPr>
            <a:endParaRPr lang="en-US" sz="1600" i="0">
              <a:solidFill>
                <a:srgbClr val="171717"/>
              </a:solidFill>
              <a:effectLst/>
            </a:endParaRPr>
          </a:p>
          <a:p>
            <a:pPr marL="342900" indent="-342900" algn="l">
              <a:buFont typeface="+mj-lt"/>
              <a:buAutoNum type="arabicPeriod"/>
            </a:pPr>
            <a:r>
              <a:rPr lang="en-US" sz="1600" i="0">
                <a:solidFill>
                  <a:srgbClr val="171717"/>
                </a:solidFill>
                <a:effectLst/>
              </a:rPr>
              <a:t>Select Create.</a:t>
            </a:r>
          </a:p>
          <a:p>
            <a:pPr marL="342900" indent="-342900" algn="l">
              <a:buFont typeface="+mj-lt"/>
              <a:buAutoNum type="arabicPeriod"/>
            </a:pPr>
            <a:endParaRPr lang="en-US" sz="1600" i="0">
              <a:solidFill>
                <a:srgbClr val="171717"/>
              </a:solidFill>
              <a:effectLst/>
            </a:endParaRPr>
          </a:p>
          <a:p>
            <a:pPr marL="342900" indent="-342900" algn="l">
              <a:buFont typeface="+mj-lt"/>
              <a:buAutoNum type="arabicPeriod"/>
            </a:pPr>
            <a:r>
              <a:rPr lang="en-US" sz="1600" i="0">
                <a:solidFill>
                  <a:srgbClr val="171717"/>
                </a:solidFill>
                <a:effectLst/>
              </a:rPr>
              <a:t>By default, an empty package titled </a:t>
            </a:r>
            <a:r>
              <a:rPr lang="en-US" sz="1600" i="0" err="1">
                <a:solidFill>
                  <a:srgbClr val="171717"/>
                </a:solidFill>
                <a:effectLst/>
              </a:rPr>
              <a:t>Package.dtsx</a:t>
            </a:r>
            <a:r>
              <a:rPr lang="en-US" sz="1600" i="0">
                <a:solidFill>
                  <a:srgbClr val="171717"/>
                </a:solidFill>
                <a:effectLst/>
              </a:rPr>
              <a:t> is created and added to your project under SSIS Packages.</a:t>
            </a:r>
          </a:p>
        </p:txBody>
      </p:sp>
      <p:pic>
        <p:nvPicPr>
          <p:cNvPr id="6" name="Picture 5">
            <a:extLst>
              <a:ext uri="{FF2B5EF4-FFF2-40B4-BE49-F238E27FC236}">
                <a16:creationId xmlns:a16="http://schemas.microsoft.com/office/drawing/2014/main" id="{5BCAF97B-9391-4561-9933-772D5E121393}"/>
              </a:ext>
            </a:extLst>
          </p:cNvPr>
          <p:cNvPicPr>
            <a:picLocks noChangeAspect="1"/>
          </p:cNvPicPr>
          <p:nvPr/>
        </p:nvPicPr>
        <p:blipFill>
          <a:blip r:embed="rId3"/>
          <a:stretch>
            <a:fillRect/>
          </a:stretch>
        </p:blipFill>
        <p:spPr>
          <a:xfrm>
            <a:off x="6222155" y="809314"/>
            <a:ext cx="4086225" cy="742950"/>
          </a:xfrm>
          <a:prstGeom prst="rect">
            <a:avLst/>
          </a:prstGeom>
        </p:spPr>
      </p:pic>
      <p:sp>
        <p:nvSpPr>
          <p:cNvPr id="10" name="Callout: Bent Line 9">
            <a:extLst>
              <a:ext uri="{FF2B5EF4-FFF2-40B4-BE49-F238E27FC236}">
                <a16:creationId xmlns:a16="http://schemas.microsoft.com/office/drawing/2014/main" id="{BFBCDAC9-ACD9-4418-B673-61AD601F6F20}"/>
              </a:ext>
            </a:extLst>
          </p:cNvPr>
          <p:cNvSpPr/>
          <p:nvPr/>
        </p:nvSpPr>
        <p:spPr>
          <a:xfrm>
            <a:off x="9251004" y="1349357"/>
            <a:ext cx="2743200" cy="367733"/>
          </a:xfrm>
          <a:prstGeom prst="borderCallout2">
            <a:avLst>
              <a:gd name="adj1" fmla="val 55784"/>
              <a:gd name="adj2" fmla="val -1595"/>
              <a:gd name="adj3" fmla="val 124562"/>
              <a:gd name="adj4" fmla="val -13476"/>
              <a:gd name="adj5" fmla="val 226248"/>
              <a:gd name="adj6" fmla="val -13688"/>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A7CDC71-174B-49C1-BF9F-38B39542F331}"/>
              </a:ext>
            </a:extLst>
          </p:cNvPr>
          <p:cNvSpPr txBox="1"/>
          <p:nvPr/>
        </p:nvSpPr>
        <p:spPr>
          <a:xfrm>
            <a:off x="9238440" y="1398375"/>
            <a:ext cx="2861149" cy="307777"/>
          </a:xfrm>
          <a:prstGeom prst="rect">
            <a:avLst/>
          </a:prstGeom>
          <a:noFill/>
        </p:spPr>
        <p:txBody>
          <a:bodyPr wrap="square">
            <a:spAutoFit/>
          </a:bodyPr>
          <a:lstStyle/>
          <a:p>
            <a:pPr algn="l"/>
            <a:r>
              <a:rPr lang="en-US" sz="1400" b="1" i="1">
                <a:solidFill>
                  <a:srgbClr val="171717"/>
                </a:solidFill>
                <a:effectLst/>
              </a:rPr>
              <a:t>Search Integration Services Project</a:t>
            </a:r>
          </a:p>
        </p:txBody>
      </p:sp>
      <p:sp>
        <p:nvSpPr>
          <p:cNvPr id="12" name="Arrow: Down 11">
            <a:extLst>
              <a:ext uri="{FF2B5EF4-FFF2-40B4-BE49-F238E27FC236}">
                <a16:creationId xmlns:a16="http://schemas.microsoft.com/office/drawing/2014/main" id="{BF303DDA-E69E-4F18-8804-71DD09974DBD}"/>
              </a:ext>
            </a:extLst>
          </p:cNvPr>
          <p:cNvSpPr/>
          <p:nvPr/>
        </p:nvSpPr>
        <p:spPr>
          <a:xfrm>
            <a:off x="7072009" y="1600902"/>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1D734349-F45B-47C3-A407-198462507578}"/>
              </a:ext>
            </a:extLst>
          </p:cNvPr>
          <p:cNvPicPr>
            <a:picLocks noChangeAspect="1"/>
          </p:cNvPicPr>
          <p:nvPr/>
        </p:nvPicPr>
        <p:blipFill>
          <a:blip r:embed="rId4"/>
          <a:stretch>
            <a:fillRect/>
          </a:stretch>
        </p:blipFill>
        <p:spPr>
          <a:xfrm>
            <a:off x="6222155" y="4656871"/>
            <a:ext cx="4682551" cy="2201129"/>
          </a:xfrm>
          <a:prstGeom prst="rect">
            <a:avLst/>
          </a:prstGeom>
        </p:spPr>
      </p:pic>
      <p:sp>
        <p:nvSpPr>
          <p:cNvPr id="36" name="Arrow: Down 35">
            <a:extLst>
              <a:ext uri="{FF2B5EF4-FFF2-40B4-BE49-F238E27FC236}">
                <a16:creationId xmlns:a16="http://schemas.microsoft.com/office/drawing/2014/main" id="{77F3DBF0-0CEC-4DB3-AAF8-4BA10F2F08E0}"/>
              </a:ext>
            </a:extLst>
          </p:cNvPr>
          <p:cNvSpPr/>
          <p:nvPr/>
        </p:nvSpPr>
        <p:spPr>
          <a:xfrm>
            <a:off x="7069173" y="4481106"/>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70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62339" y="70246"/>
            <a:ext cx="7828722" cy="438772"/>
          </a:xfrm>
        </p:spPr>
        <p:txBody>
          <a:bodyPr>
            <a:normAutofit/>
          </a:bodyPr>
          <a:lstStyle/>
          <a:p>
            <a:pPr marR="0" lvl="0" algn="just">
              <a:lnSpc>
                <a:spcPct val="105000"/>
              </a:lnSpc>
              <a:spcBef>
                <a:spcPts val="0"/>
              </a:spcBef>
              <a:spcAft>
                <a:spcPts val="600"/>
              </a:spcAft>
            </a:pPr>
            <a:r>
              <a:rPr lang="en-NZ" sz="2200">
                <a:solidFill>
                  <a:schemeClr val="bg1"/>
                </a:solidFill>
                <a:ea typeface="Times New Roman" panose="02020603050405020304" pitchFamily="18" charset="0"/>
              </a:rPr>
              <a:t>Connection Manager</a:t>
            </a:r>
            <a:endParaRPr lang="en-NZ" sz="6600">
              <a:solidFill>
                <a:schemeClr val="bg1"/>
              </a:solidFill>
              <a:effectLst/>
              <a:ea typeface="Times New Roman" panose="02020603050405020304" pitchFamily="18" charset="0"/>
            </a:endParaRPr>
          </a:p>
        </p:txBody>
      </p:sp>
      <p:sp>
        <p:nvSpPr>
          <p:cNvPr id="13" name="TextBox 12">
            <a:extLst>
              <a:ext uri="{FF2B5EF4-FFF2-40B4-BE49-F238E27FC236}">
                <a16:creationId xmlns:a16="http://schemas.microsoft.com/office/drawing/2014/main" id="{0F665AD8-FD0A-4E59-8DB9-2FB1C2D5CBCA}"/>
              </a:ext>
            </a:extLst>
          </p:cNvPr>
          <p:cNvSpPr txBox="1"/>
          <p:nvPr/>
        </p:nvSpPr>
        <p:spPr>
          <a:xfrm>
            <a:off x="65817" y="588143"/>
            <a:ext cx="11989341" cy="1600438"/>
          </a:xfrm>
          <a:prstGeom prst="rect">
            <a:avLst/>
          </a:prstGeom>
          <a:noFill/>
        </p:spPr>
        <p:txBody>
          <a:bodyPr wrap="square">
            <a:spAutoFit/>
          </a:bodyPr>
          <a:lstStyle/>
          <a:p>
            <a:r>
              <a:rPr lang="en-US" sz="1400" b="0" i="0">
                <a:solidFill>
                  <a:srgbClr val="222222"/>
                </a:solidFill>
                <a:effectLst/>
                <a:latin typeface="-apple-system"/>
              </a:rPr>
              <a:t>In Integration Services Project , there are two types of Connection managers - Project Level Connection Managers  and Package Level Connection Managers</a:t>
            </a:r>
          </a:p>
          <a:p>
            <a:endParaRPr lang="en-US" sz="1400">
              <a:solidFill>
                <a:srgbClr val="222222"/>
              </a:solidFill>
              <a:latin typeface="-apple-system"/>
            </a:endParaRPr>
          </a:p>
          <a:p>
            <a:pPr marL="342900" indent="-342900">
              <a:buFont typeface="+mj-lt"/>
              <a:buAutoNum type="arabicPeriod"/>
            </a:pPr>
            <a:r>
              <a:rPr lang="en-US" sz="1400" b="0" i="0">
                <a:solidFill>
                  <a:srgbClr val="222222"/>
                </a:solidFill>
                <a:effectLst/>
                <a:latin typeface="-apple-system"/>
              </a:rPr>
              <a:t>Project Level Connection Managers - allow connections available to available to all the packages under that project. If there are multiple packages that require the same connection, then </a:t>
            </a:r>
            <a:r>
              <a:rPr lang="en-US" sz="1400" b="1" i="0" u="sng">
                <a:solidFill>
                  <a:srgbClr val="222222"/>
                </a:solidFill>
                <a:effectLst/>
                <a:latin typeface="-apple-system"/>
              </a:rPr>
              <a:t>it is good practice to create Project Level Connection Managers</a:t>
            </a:r>
            <a:r>
              <a:rPr lang="en-US" sz="1400" b="0" i="0">
                <a:solidFill>
                  <a:srgbClr val="222222"/>
                </a:solidFill>
                <a:effectLst/>
                <a:latin typeface="-apple-system"/>
              </a:rPr>
              <a:t>.</a:t>
            </a:r>
          </a:p>
          <a:p>
            <a:pPr marL="342900" indent="-342900">
              <a:buFont typeface="+mj-lt"/>
              <a:buAutoNum type="arabicPeriod"/>
            </a:pPr>
            <a:r>
              <a:rPr lang="en-US" sz="1400" b="0" i="0">
                <a:solidFill>
                  <a:srgbClr val="222222"/>
                </a:solidFill>
                <a:effectLst/>
                <a:latin typeface="-apple-system"/>
              </a:rPr>
              <a:t>Package Level Connection Managers – allow connection to that particular package only where it is configured.</a:t>
            </a:r>
          </a:p>
          <a:p>
            <a:pPr marL="342900" indent="-342900">
              <a:buFont typeface="+mj-lt"/>
              <a:buAutoNum type="arabicPeriod"/>
            </a:pPr>
            <a:endParaRPr lang="en-US" sz="1400">
              <a:solidFill>
                <a:srgbClr val="222222"/>
              </a:solidFill>
              <a:latin typeface="-apple-system"/>
            </a:endParaRPr>
          </a:p>
          <a:p>
            <a:r>
              <a:rPr lang="en-US" sz="1400">
                <a:solidFill>
                  <a:srgbClr val="222222"/>
                </a:solidFill>
                <a:latin typeface="-apple-system"/>
              </a:rPr>
              <a:t>In our design we are using </a:t>
            </a:r>
            <a:r>
              <a:rPr lang="en-US" sz="1400" b="0" i="0">
                <a:solidFill>
                  <a:srgbClr val="222222"/>
                </a:solidFill>
                <a:effectLst/>
                <a:latin typeface="-apple-system"/>
              </a:rPr>
              <a:t>Project Level Connection Managers for </a:t>
            </a:r>
            <a:r>
              <a:rPr lang="en-US" sz="1400" b="0" i="0" err="1">
                <a:solidFill>
                  <a:srgbClr val="222222"/>
                </a:solidFill>
                <a:effectLst/>
                <a:latin typeface="-apple-system"/>
              </a:rPr>
              <a:t>SalesAU_NZ</a:t>
            </a:r>
            <a:r>
              <a:rPr lang="en-US" sz="1400" b="0" i="0">
                <a:solidFill>
                  <a:srgbClr val="222222"/>
                </a:solidFill>
                <a:effectLst/>
                <a:latin typeface="-apple-system"/>
              </a:rPr>
              <a:t>, </a:t>
            </a:r>
            <a:r>
              <a:rPr lang="en-US" sz="1400" b="0" i="0" err="1">
                <a:solidFill>
                  <a:srgbClr val="222222"/>
                </a:solidFill>
                <a:effectLst/>
                <a:latin typeface="-apple-system"/>
              </a:rPr>
              <a:t>Salemodels</a:t>
            </a:r>
            <a:r>
              <a:rPr lang="en-US" sz="1400" b="0" i="0">
                <a:solidFill>
                  <a:srgbClr val="222222"/>
                </a:solidFill>
                <a:effectLst/>
                <a:latin typeface="-apple-system"/>
              </a:rPr>
              <a:t> &amp; Data Warehouse</a:t>
            </a:r>
            <a:endParaRPr lang="en-US" sz="1400"/>
          </a:p>
        </p:txBody>
      </p:sp>
      <p:pic>
        <p:nvPicPr>
          <p:cNvPr id="3" name="Picture 4" descr="Graphical user interface, text, application, chat or text message&#10;&#10;Description automatically generated">
            <a:extLst>
              <a:ext uri="{FF2B5EF4-FFF2-40B4-BE49-F238E27FC236}">
                <a16:creationId xmlns:a16="http://schemas.microsoft.com/office/drawing/2014/main" id="{D94DEA13-7C32-4FB5-ABBA-2B9AC5937357}"/>
              </a:ext>
            </a:extLst>
          </p:cNvPr>
          <p:cNvPicPr>
            <a:picLocks noChangeAspect="1"/>
          </p:cNvPicPr>
          <p:nvPr/>
        </p:nvPicPr>
        <p:blipFill>
          <a:blip r:embed="rId2"/>
          <a:stretch>
            <a:fillRect/>
          </a:stretch>
        </p:blipFill>
        <p:spPr>
          <a:xfrm>
            <a:off x="358805" y="2330669"/>
            <a:ext cx="3972303" cy="1249047"/>
          </a:xfrm>
          <a:prstGeom prst="rect">
            <a:avLst/>
          </a:prstGeom>
          <a:effectLst>
            <a:outerShdw blurRad="50800" dist="38100" dir="2700000" algn="tl" rotWithShape="0">
              <a:prstClr val="black">
                <a:alpha val="40000"/>
              </a:prstClr>
            </a:outerShdw>
          </a:effectLst>
        </p:spPr>
      </p:pic>
      <p:sp>
        <p:nvSpPr>
          <p:cNvPr id="5" name="Arrow: Down 4">
            <a:extLst>
              <a:ext uri="{FF2B5EF4-FFF2-40B4-BE49-F238E27FC236}">
                <a16:creationId xmlns:a16="http://schemas.microsoft.com/office/drawing/2014/main" id="{FC0F6CD8-537D-4808-A6B6-BBCCED17116C}"/>
              </a:ext>
            </a:extLst>
          </p:cNvPr>
          <p:cNvSpPr/>
          <p:nvPr/>
        </p:nvSpPr>
        <p:spPr>
          <a:xfrm>
            <a:off x="1997203" y="3601970"/>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Graphical user interface, text&#10;&#10;Description automatically generated">
            <a:extLst>
              <a:ext uri="{FF2B5EF4-FFF2-40B4-BE49-F238E27FC236}">
                <a16:creationId xmlns:a16="http://schemas.microsoft.com/office/drawing/2014/main" id="{ECBA6D53-E93D-4F46-9BCF-E524376EA41C}"/>
              </a:ext>
            </a:extLst>
          </p:cNvPr>
          <p:cNvPicPr>
            <a:picLocks noChangeAspect="1"/>
          </p:cNvPicPr>
          <p:nvPr/>
        </p:nvPicPr>
        <p:blipFill>
          <a:blip r:embed="rId3"/>
          <a:stretch>
            <a:fillRect/>
          </a:stretch>
        </p:blipFill>
        <p:spPr>
          <a:xfrm>
            <a:off x="346514" y="3815846"/>
            <a:ext cx="4009008" cy="2707364"/>
          </a:xfrm>
          <a:prstGeom prst="rect">
            <a:avLst/>
          </a:prstGeom>
          <a:effectLst>
            <a:outerShdw blurRad="50800" dist="38100" dir="2700000" algn="tl" rotWithShape="0">
              <a:prstClr val="black">
                <a:alpha val="40000"/>
              </a:prstClr>
            </a:outerShdw>
          </a:effectLst>
        </p:spPr>
      </p:pic>
      <p:pic>
        <p:nvPicPr>
          <p:cNvPr id="8" name="Picture 8">
            <a:extLst>
              <a:ext uri="{FF2B5EF4-FFF2-40B4-BE49-F238E27FC236}">
                <a16:creationId xmlns:a16="http://schemas.microsoft.com/office/drawing/2014/main" id="{5906648A-610B-4BA4-8152-52C693C47485}"/>
              </a:ext>
            </a:extLst>
          </p:cNvPr>
          <p:cNvPicPr>
            <a:picLocks noChangeAspect="1"/>
          </p:cNvPicPr>
          <p:nvPr/>
        </p:nvPicPr>
        <p:blipFill>
          <a:blip r:embed="rId4"/>
          <a:stretch>
            <a:fillRect/>
          </a:stretch>
        </p:blipFill>
        <p:spPr>
          <a:xfrm>
            <a:off x="4675238" y="3849135"/>
            <a:ext cx="3959941" cy="2833283"/>
          </a:xfrm>
          <a:prstGeom prst="rect">
            <a:avLst/>
          </a:prstGeom>
          <a:effectLst>
            <a:outerShdw blurRad="50800" dist="38100" dir="2700000" algn="tl" rotWithShape="0">
              <a:prstClr val="black">
                <a:alpha val="40000"/>
              </a:prstClr>
            </a:outerShdw>
          </a:effectLst>
        </p:spPr>
      </p:pic>
      <p:sp>
        <p:nvSpPr>
          <p:cNvPr id="9" name="Arrow: Down 8">
            <a:extLst>
              <a:ext uri="{FF2B5EF4-FFF2-40B4-BE49-F238E27FC236}">
                <a16:creationId xmlns:a16="http://schemas.microsoft.com/office/drawing/2014/main" id="{A996C4E3-A81E-4374-B854-E92AF1826ACA}"/>
              </a:ext>
            </a:extLst>
          </p:cNvPr>
          <p:cNvSpPr/>
          <p:nvPr/>
        </p:nvSpPr>
        <p:spPr>
          <a:xfrm rot="16200000">
            <a:off x="4381525" y="5027647"/>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9" descr="Graphical user interface, text, application&#10;&#10;Description automatically generated">
            <a:extLst>
              <a:ext uri="{FF2B5EF4-FFF2-40B4-BE49-F238E27FC236}">
                <a16:creationId xmlns:a16="http://schemas.microsoft.com/office/drawing/2014/main" id="{6E1406C8-0AF2-490F-8093-D00BA281FC5A}"/>
              </a:ext>
            </a:extLst>
          </p:cNvPr>
          <p:cNvPicPr>
            <a:picLocks noChangeAspect="1"/>
          </p:cNvPicPr>
          <p:nvPr/>
        </p:nvPicPr>
        <p:blipFill>
          <a:blip r:embed="rId5"/>
          <a:stretch>
            <a:fillRect/>
          </a:stretch>
        </p:blipFill>
        <p:spPr>
          <a:xfrm>
            <a:off x="8964561" y="3901059"/>
            <a:ext cx="3148780" cy="2829010"/>
          </a:xfrm>
          <a:prstGeom prst="rect">
            <a:avLst/>
          </a:prstGeom>
          <a:effectLst>
            <a:outerShdw blurRad="50800" dist="38100" dir="2700000" algn="tl" rotWithShape="0">
              <a:prstClr val="black">
                <a:alpha val="40000"/>
              </a:prstClr>
            </a:outerShdw>
          </a:effectLst>
        </p:spPr>
      </p:pic>
      <p:sp>
        <p:nvSpPr>
          <p:cNvPr id="11" name="Arrow: Down 10">
            <a:extLst>
              <a:ext uri="{FF2B5EF4-FFF2-40B4-BE49-F238E27FC236}">
                <a16:creationId xmlns:a16="http://schemas.microsoft.com/office/drawing/2014/main" id="{AF67BDAB-0E91-4B39-98C5-6C4D839193F3}"/>
              </a:ext>
            </a:extLst>
          </p:cNvPr>
          <p:cNvSpPr/>
          <p:nvPr/>
        </p:nvSpPr>
        <p:spPr>
          <a:xfrm rot="16200000">
            <a:off x="8695427" y="4947836"/>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1" descr="Graphical user interface, text, application, email&#10;&#10;Description automatically generated">
            <a:extLst>
              <a:ext uri="{FF2B5EF4-FFF2-40B4-BE49-F238E27FC236}">
                <a16:creationId xmlns:a16="http://schemas.microsoft.com/office/drawing/2014/main" id="{18857247-AC86-48C2-8F98-291976D3D3E3}"/>
              </a:ext>
            </a:extLst>
          </p:cNvPr>
          <p:cNvPicPr>
            <a:picLocks noChangeAspect="1"/>
          </p:cNvPicPr>
          <p:nvPr/>
        </p:nvPicPr>
        <p:blipFill>
          <a:blip r:embed="rId6"/>
          <a:stretch>
            <a:fillRect/>
          </a:stretch>
        </p:blipFill>
        <p:spPr>
          <a:xfrm>
            <a:off x="9198077" y="1713981"/>
            <a:ext cx="2767781" cy="1869165"/>
          </a:xfrm>
          <a:prstGeom prst="rect">
            <a:avLst/>
          </a:prstGeom>
          <a:effectLst>
            <a:outerShdw blurRad="50800" dist="38100" dir="2700000" algn="tl" rotWithShape="0">
              <a:prstClr val="black">
                <a:alpha val="40000"/>
              </a:prstClr>
            </a:outerShdw>
          </a:effectLst>
        </p:spPr>
      </p:pic>
      <p:sp>
        <p:nvSpPr>
          <p:cNvPr id="14" name="Arrow: Down 13">
            <a:extLst>
              <a:ext uri="{FF2B5EF4-FFF2-40B4-BE49-F238E27FC236}">
                <a16:creationId xmlns:a16="http://schemas.microsoft.com/office/drawing/2014/main" id="{D5256748-EDD0-4558-A25E-E85A3A3134EE}"/>
              </a:ext>
            </a:extLst>
          </p:cNvPr>
          <p:cNvSpPr/>
          <p:nvPr/>
        </p:nvSpPr>
        <p:spPr>
          <a:xfrm rot="11100000">
            <a:off x="10428362" y="3632771"/>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067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j-lt"/>
                <a:ea typeface="Times New Roman" panose="02020603050405020304" pitchFamily="18" charset="0"/>
              </a:rPr>
              <a:t>Common SSIS Toolbox Components – Sequence Container,  Execute SQL Task</a:t>
            </a:r>
          </a:p>
        </p:txBody>
      </p:sp>
      <p:sp>
        <p:nvSpPr>
          <p:cNvPr id="13" name="TextBox 12">
            <a:extLst>
              <a:ext uri="{FF2B5EF4-FFF2-40B4-BE49-F238E27FC236}">
                <a16:creationId xmlns:a16="http://schemas.microsoft.com/office/drawing/2014/main" id="{0F665AD8-FD0A-4E59-8DB9-2FB1C2D5CBCA}"/>
              </a:ext>
            </a:extLst>
          </p:cNvPr>
          <p:cNvSpPr txBox="1"/>
          <p:nvPr/>
        </p:nvSpPr>
        <p:spPr>
          <a:xfrm>
            <a:off x="1876862" y="5036136"/>
            <a:ext cx="2002679" cy="338554"/>
          </a:xfrm>
          <a:prstGeom prst="rect">
            <a:avLst/>
          </a:prstGeom>
          <a:noFill/>
        </p:spPr>
        <p:txBody>
          <a:bodyPr wrap="square">
            <a:spAutoFit/>
          </a:bodyPr>
          <a:lstStyle/>
          <a:p>
            <a:r>
              <a:rPr lang="en-US" sz="1600" b="1" i="0">
                <a:solidFill>
                  <a:srgbClr val="222222"/>
                </a:solidFill>
                <a:effectLst/>
                <a:latin typeface="-apple-system"/>
              </a:rPr>
              <a:t>Execute SQL Task</a:t>
            </a:r>
            <a:endParaRPr lang="en-US" sz="1600" b="1"/>
          </a:p>
        </p:txBody>
      </p:sp>
      <p:sp>
        <p:nvSpPr>
          <p:cNvPr id="5" name="TextBox 4">
            <a:extLst>
              <a:ext uri="{FF2B5EF4-FFF2-40B4-BE49-F238E27FC236}">
                <a16:creationId xmlns:a16="http://schemas.microsoft.com/office/drawing/2014/main" id="{E4C142BE-D60A-4566-A4AB-B5E749031B54}"/>
              </a:ext>
            </a:extLst>
          </p:cNvPr>
          <p:cNvSpPr txBox="1"/>
          <p:nvPr/>
        </p:nvSpPr>
        <p:spPr>
          <a:xfrm>
            <a:off x="7746481" y="4974379"/>
            <a:ext cx="2002679" cy="338554"/>
          </a:xfrm>
          <a:prstGeom prst="rect">
            <a:avLst/>
          </a:prstGeom>
          <a:noFill/>
        </p:spPr>
        <p:txBody>
          <a:bodyPr wrap="square">
            <a:spAutoFit/>
          </a:bodyPr>
          <a:lstStyle/>
          <a:p>
            <a:r>
              <a:rPr lang="en-US" sz="1600" b="1" i="0">
                <a:solidFill>
                  <a:srgbClr val="222222"/>
                </a:solidFill>
                <a:effectLst/>
                <a:latin typeface="-apple-system"/>
              </a:rPr>
              <a:t>Sequence Container</a:t>
            </a:r>
            <a:endParaRPr lang="en-US" sz="1600" b="1"/>
          </a:p>
        </p:txBody>
      </p:sp>
      <p:sp>
        <p:nvSpPr>
          <p:cNvPr id="6" name="TextBox 5">
            <a:extLst>
              <a:ext uri="{FF2B5EF4-FFF2-40B4-BE49-F238E27FC236}">
                <a16:creationId xmlns:a16="http://schemas.microsoft.com/office/drawing/2014/main" id="{81249F1D-7FD8-4764-8C56-24041719E344}"/>
              </a:ext>
            </a:extLst>
          </p:cNvPr>
          <p:cNvSpPr txBox="1"/>
          <p:nvPr/>
        </p:nvSpPr>
        <p:spPr>
          <a:xfrm>
            <a:off x="528195" y="5454589"/>
            <a:ext cx="4557969" cy="954107"/>
          </a:xfrm>
          <a:prstGeom prst="rect">
            <a:avLst/>
          </a:prstGeom>
          <a:noFill/>
        </p:spPr>
        <p:txBody>
          <a:bodyPr wrap="square">
            <a:spAutoFit/>
          </a:bodyPr>
          <a:lstStyle/>
          <a:p>
            <a:r>
              <a:rPr lang="en-US" sz="1400" b="0" i="0">
                <a:solidFill>
                  <a:srgbClr val="171717"/>
                </a:solidFill>
                <a:effectLst/>
                <a:latin typeface="Segoe UI" panose="020B0502040204020203" pitchFamily="34" charset="0"/>
              </a:rPr>
              <a:t>The Execute SQL task runs SQL statements or stored procedures from a package. The task can contain either a single SQL statement or multiple SQL statements that run sequentially</a:t>
            </a:r>
            <a:endParaRPr lang="en-US" sz="1400"/>
          </a:p>
        </p:txBody>
      </p:sp>
      <p:sp>
        <p:nvSpPr>
          <p:cNvPr id="7" name="TextBox 6">
            <a:extLst>
              <a:ext uri="{FF2B5EF4-FFF2-40B4-BE49-F238E27FC236}">
                <a16:creationId xmlns:a16="http://schemas.microsoft.com/office/drawing/2014/main" id="{D8BF0C57-AB3D-48CA-B9A8-18D45B9BD6B3}"/>
              </a:ext>
            </a:extLst>
          </p:cNvPr>
          <p:cNvSpPr txBox="1"/>
          <p:nvPr/>
        </p:nvSpPr>
        <p:spPr>
          <a:xfrm>
            <a:off x="6374167" y="5374690"/>
            <a:ext cx="4995551" cy="1384995"/>
          </a:xfrm>
          <a:prstGeom prst="rect">
            <a:avLst/>
          </a:prstGeom>
          <a:noFill/>
        </p:spPr>
        <p:txBody>
          <a:bodyPr wrap="square">
            <a:spAutoFit/>
          </a:bodyPr>
          <a:lstStyle/>
          <a:p>
            <a:r>
              <a:rPr lang="en-US" sz="1400" b="0" i="0">
                <a:solidFill>
                  <a:srgbClr val="171717"/>
                </a:solidFill>
                <a:effectLst/>
                <a:latin typeface="Segoe UI" panose="020B0502040204020203" pitchFamily="34" charset="0"/>
              </a:rPr>
              <a:t>The Sequence container defines a control flow that is a subset of the package control flow. Sequence containers group the package into multiple separate control flows, each containing one or more tasks and containers that run within the overall package control flow. The Sequence container can include multiple tasks in addition to other containers</a:t>
            </a:r>
            <a:endParaRPr lang="en-US" sz="1400"/>
          </a:p>
        </p:txBody>
      </p:sp>
      <p:pic>
        <p:nvPicPr>
          <p:cNvPr id="3" name="Picture 7">
            <a:extLst>
              <a:ext uri="{FF2B5EF4-FFF2-40B4-BE49-F238E27FC236}">
                <a16:creationId xmlns:a16="http://schemas.microsoft.com/office/drawing/2014/main" id="{4C9C3B39-72D6-4E63-8028-17837CC61DFD}"/>
              </a:ext>
            </a:extLst>
          </p:cNvPr>
          <p:cNvPicPr>
            <a:picLocks noChangeAspect="1"/>
          </p:cNvPicPr>
          <p:nvPr/>
        </p:nvPicPr>
        <p:blipFill>
          <a:blip r:embed="rId2"/>
          <a:stretch>
            <a:fillRect/>
          </a:stretch>
        </p:blipFill>
        <p:spPr>
          <a:xfrm>
            <a:off x="250812" y="642185"/>
            <a:ext cx="2212473" cy="562286"/>
          </a:xfrm>
          <a:prstGeom prst="rect">
            <a:avLst/>
          </a:prstGeom>
          <a:effectLst>
            <a:outerShdw blurRad="50800" dist="38100" dir="2700000" algn="tl" rotWithShape="0">
              <a:prstClr val="black">
                <a:alpha val="40000"/>
              </a:prstClr>
            </a:outerShdw>
          </a:effectLst>
        </p:spPr>
      </p:pic>
      <p:pic>
        <p:nvPicPr>
          <p:cNvPr id="8" name="Picture 8" descr="Graphical user interface, text, application&#10;&#10;Description automatically generated">
            <a:extLst>
              <a:ext uri="{FF2B5EF4-FFF2-40B4-BE49-F238E27FC236}">
                <a16:creationId xmlns:a16="http://schemas.microsoft.com/office/drawing/2014/main" id="{655ED2E0-9151-4D0F-A887-40AADA15B6C4}"/>
              </a:ext>
            </a:extLst>
          </p:cNvPr>
          <p:cNvPicPr>
            <a:picLocks noChangeAspect="1"/>
          </p:cNvPicPr>
          <p:nvPr/>
        </p:nvPicPr>
        <p:blipFill>
          <a:blip r:embed="rId3"/>
          <a:stretch>
            <a:fillRect/>
          </a:stretch>
        </p:blipFill>
        <p:spPr>
          <a:xfrm>
            <a:off x="250812" y="1293885"/>
            <a:ext cx="4252905" cy="3642054"/>
          </a:xfrm>
          <a:prstGeom prst="rect">
            <a:avLst/>
          </a:prstGeom>
          <a:effectLst>
            <a:outerShdw blurRad="50800" dist="38100" dir="2700000" algn="tl" rotWithShape="0">
              <a:prstClr val="black">
                <a:alpha val="40000"/>
              </a:prstClr>
            </a:outerShdw>
          </a:effectLst>
        </p:spPr>
      </p:pic>
      <p:pic>
        <p:nvPicPr>
          <p:cNvPr id="9" name="Picture 9" descr="Graphical user interface, text&#10;&#10;Description automatically generated">
            <a:extLst>
              <a:ext uri="{FF2B5EF4-FFF2-40B4-BE49-F238E27FC236}">
                <a16:creationId xmlns:a16="http://schemas.microsoft.com/office/drawing/2014/main" id="{DC878DA6-1D30-4BF4-AE60-6A5659E8D884}"/>
              </a:ext>
            </a:extLst>
          </p:cNvPr>
          <p:cNvPicPr>
            <a:picLocks noChangeAspect="1"/>
          </p:cNvPicPr>
          <p:nvPr/>
        </p:nvPicPr>
        <p:blipFill>
          <a:blip r:embed="rId4"/>
          <a:stretch>
            <a:fillRect/>
          </a:stretch>
        </p:blipFill>
        <p:spPr>
          <a:xfrm>
            <a:off x="4605418" y="2367668"/>
            <a:ext cx="2743200" cy="2483528"/>
          </a:xfrm>
          <a:prstGeom prst="rect">
            <a:avLst/>
          </a:prstGeom>
          <a:effectLst>
            <a:outerShdw blurRad="50800" dist="38100" dir="2700000" algn="tl" rotWithShape="0">
              <a:prstClr val="black">
                <a:alpha val="40000"/>
              </a:prstClr>
            </a:outerShdw>
          </a:effectLst>
        </p:spPr>
      </p:pic>
      <p:pic>
        <p:nvPicPr>
          <p:cNvPr id="10" name="Picture 10">
            <a:extLst>
              <a:ext uri="{FF2B5EF4-FFF2-40B4-BE49-F238E27FC236}">
                <a16:creationId xmlns:a16="http://schemas.microsoft.com/office/drawing/2014/main" id="{7F907236-C421-4CC0-A287-7F017DB631E8}"/>
              </a:ext>
            </a:extLst>
          </p:cNvPr>
          <p:cNvPicPr>
            <a:picLocks noChangeAspect="1"/>
          </p:cNvPicPr>
          <p:nvPr/>
        </p:nvPicPr>
        <p:blipFill>
          <a:blip r:embed="rId5"/>
          <a:stretch>
            <a:fillRect/>
          </a:stretch>
        </p:blipFill>
        <p:spPr>
          <a:xfrm>
            <a:off x="7719134" y="1293885"/>
            <a:ext cx="2743199" cy="357187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1849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n-lt"/>
                <a:ea typeface="SimSun" panose="02010600030101010101" pitchFamily="2" charset="-122"/>
              </a:rPr>
              <a:t>Extract, Transform and Load data in Integration Services Project</a:t>
            </a:r>
            <a:endParaRPr lang="en-NZ" sz="2400">
              <a:solidFill>
                <a:schemeClr val="bg1"/>
              </a:solidFill>
              <a:effectLst/>
              <a:latin typeface="+mn-lt"/>
              <a:ea typeface="Times New Roman" panose="02020603050405020304" pitchFamily="18" charset="0"/>
            </a:endParaRPr>
          </a:p>
        </p:txBody>
      </p:sp>
      <p:sp>
        <p:nvSpPr>
          <p:cNvPr id="8" name="TextBox 7">
            <a:extLst>
              <a:ext uri="{FF2B5EF4-FFF2-40B4-BE49-F238E27FC236}">
                <a16:creationId xmlns:a16="http://schemas.microsoft.com/office/drawing/2014/main" id="{D19F2194-ED1D-484F-874D-017CDFDDB721}"/>
              </a:ext>
            </a:extLst>
          </p:cNvPr>
          <p:cNvSpPr txBox="1"/>
          <p:nvPr/>
        </p:nvSpPr>
        <p:spPr>
          <a:xfrm>
            <a:off x="308112" y="624043"/>
            <a:ext cx="9407591" cy="6923690"/>
          </a:xfrm>
          <a:prstGeom prst="rect">
            <a:avLst/>
          </a:prstGeom>
          <a:noFill/>
        </p:spPr>
        <p:txBody>
          <a:bodyPr wrap="square">
            <a:spAutoFit/>
          </a:bodyPr>
          <a:lstStyle/>
          <a:p>
            <a:pPr marR="0" lvl="0" algn="just">
              <a:lnSpc>
                <a:spcPct val="105000"/>
              </a:lnSpc>
              <a:spcBef>
                <a:spcPts val="0"/>
              </a:spcBef>
              <a:spcAft>
                <a:spcPts val="600"/>
              </a:spcAft>
            </a:pPr>
            <a:r>
              <a:rPr lang="en-US" sz="1400">
                <a:ea typeface="SimSun" panose="02010600030101010101" pitchFamily="2" charset="-122"/>
              </a:rPr>
              <a:t>Below is the list of Common SSIS Toolbox components used in this project</a:t>
            </a:r>
            <a:endParaRPr lang="en-US" sz="140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ffectLst/>
                <a:ea typeface="SimSun" panose="02010600030101010101" pitchFamily="2" charset="-122"/>
              </a:rPr>
              <a:t>Data Flow Task – Moves data between sources and destinations while transforming and cleaning. Data can be moved between tables and files while efficiently processing the data in memory with transformation. This is an </a:t>
            </a:r>
            <a:r>
              <a:rPr lang="en-US" sz="1400">
                <a:ea typeface="SimSun" panose="02010600030101010101" pitchFamily="2" charset="-122"/>
              </a:rPr>
              <a:t>essential integration services task and may be the only task in the control flow</a:t>
            </a:r>
          </a:p>
          <a:p>
            <a:pPr marL="342900" marR="0" lvl="0" indent="-342900" algn="just">
              <a:lnSpc>
                <a:spcPct val="105000"/>
              </a:lnSpc>
              <a:spcBef>
                <a:spcPts val="0"/>
              </a:spcBef>
              <a:spcAft>
                <a:spcPts val="600"/>
              </a:spcAft>
              <a:buFont typeface="+mj-lt"/>
              <a:buAutoNum type="arabicPeriod"/>
            </a:pPr>
            <a:endParaRPr lang="en-US" sz="140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a typeface="SimSun" panose="02010600030101010101" pitchFamily="2" charset="-122"/>
              </a:rPr>
              <a:t>Derived Column – Creates a new column values by applying expressions to transformation input columns. Create new column or overwrite existing ones. For example, concatenate the values from the “first name” and “last name“ column to make a “full name” column.</a:t>
            </a:r>
          </a:p>
          <a:p>
            <a:pPr marL="342900" marR="0" lvl="0" indent="-342900" algn="just">
              <a:lnSpc>
                <a:spcPct val="105000"/>
              </a:lnSpc>
              <a:spcBef>
                <a:spcPts val="0"/>
              </a:spcBef>
              <a:spcAft>
                <a:spcPts val="600"/>
              </a:spcAft>
              <a:buFont typeface="+mj-lt"/>
              <a:buAutoNum type="arabicPeriod"/>
            </a:pPr>
            <a:endParaRPr lang="en-US" sz="140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ffectLst/>
                <a:ea typeface="SimSun" panose="02010600030101010101" pitchFamily="2" charset="-122"/>
              </a:rPr>
              <a:t>Row Count – Counts rows as they pass through a data flow. For example, use the number of rows processed to determine whether or not to perform cleanup operations, or update text in an e-mail message to communicate processing status.</a:t>
            </a:r>
          </a:p>
          <a:p>
            <a:pPr marL="342900" marR="0" lvl="0" indent="-342900" algn="just">
              <a:lnSpc>
                <a:spcPct val="105000"/>
              </a:lnSpc>
              <a:spcBef>
                <a:spcPts val="0"/>
              </a:spcBef>
              <a:spcAft>
                <a:spcPts val="600"/>
              </a:spcAft>
              <a:buFont typeface="+mj-lt"/>
              <a:buAutoNum type="arabicPeriod"/>
            </a:pPr>
            <a:endParaRPr lang="en-US" sz="140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ffectLst/>
                <a:ea typeface="SimSun" panose="02010600030101010101" pitchFamily="2" charset="-122"/>
              </a:rPr>
              <a:t>Sort - Sorts input data in ascending or descending order when it cannot be sorted at its source. For example, sort sales data by “Customer id” before it is written to a flat file and delivered to another department.</a:t>
            </a:r>
          </a:p>
          <a:p>
            <a:pPr marL="342900" marR="0" lvl="0" indent="-342900" algn="just">
              <a:lnSpc>
                <a:spcPct val="105000"/>
              </a:lnSpc>
              <a:spcBef>
                <a:spcPts val="0"/>
              </a:spcBef>
              <a:spcAft>
                <a:spcPts val="600"/>
              </a:spcAft>
              <a:buFont typeface="+mj-lt"/>
              <a:buAutoNum type="arabicPeriod"/>
            </a:pPr>
            <a:endParaRPr lang="en-US" sz="140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ffectLst/>
                <a:ea typeface="SimSun" panose="02010600030101010101" pitchFamily="2" charset="-122"/>
              </a:rPr>
              <a:t>Lookup – Joins additional columns to a data flow by looking up values in a table. </a:t>
            </a:r>
            <a:r>
              <a:rPr lang="en-US" sz="1400">
                <a:ea typeface="SimSun" panose="02010600030101010101" pitchFamily="2" charset="-122"/>
              </a:rPr>
              <a:t>For example, join to the ‘employee id’ column the employees table to get ‘hire date’ and ‘employee name’. </a:t>
            </a:r>
          </a:p>
          <a:p>
            <a:pPr marL="342900" marR="0" lvl="0" indent="-342900" algn="just">
              <a:lnSpc>
                <a:spcPct val="105000"/>
              </a:lnSpc>
              <a:spcBef>
                <a:spcPts val="0"/>
              </a:spcBef>
              <a:spcAft>
                <a:spcPts val="600"/>
              </a:spcAft>
              <a:buFont typeface="+mj-lt"/>
              <a:buAutoNum type="arabicPeriod"/>
            </a:pPr>
            <a:endParaRPr lang="en-US" sz="140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a:ea typeface="SimSun" panose="02010600030101010101" pitchFamily="2" charset="-122"/>
              </a:rPr>
              <a:t>Ole DB Command – Runs a SQL Statement for each row in a data flow. For example, call a stored procedure for each row to update a dimension table when the data does not match with source</a:t>
            </a:r>
            <a:endParaRPr lang="en-US" sz="140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a:effectLst/>
              <a:ea typeface="SimSun" panose="02010600030101010101" pitchFamily="2" charset="-122"/>
            </a:endParaRPr>
          </a:p>
          <a:p>
            <a:pPr marL="457200" marR="0" lvl="0" indent="-457200" algn="just">
              <a:lnSpc>
                <a:spcPct val="105000"/>
              </a:lnSpc>
              <a:spcBef>
                <a:spcPts val="0"/>
              </a:spcBef>
              <a:spcAft>
                <a:spcPts val="600"/>
              </a:spcAft>
              <a:buFont typeface="+mj-lt"/>
              <a:buAutoNum type="arabicPeriod"/>
            </a:pPr>
            <a:endParaRPr lang="en-US">
              <a:effectLst/>
              <a:ea typeface="Times New Roman" panose="02020603050405020304" pitchFamily="18" charset="0"/>
            </a:endParaRPr>
          </a:p>
        </p:txBody>
      </p:sp>
      <p:pic>
        <p:nvPicPr>
          <p:cNvPr id="9" name="Picture 8">
            <a:extLst>
              <a:ext uri="{FF2B5EF4-FFF2-40B4-BE49-F238E27FC236}">
                <a16:creationId xmlns:a16="http://schemas.microsoft.com/office/drawing/2014/main" id="{D128ECB8-576D-488D-8727-9FC8FAB95EF7}"/>
              </a:ext>
            </a:extLst>
          </p:cNvPr>
          <p:cNvPicPr>
            <a:picLocks noChangeAspect="1"/>
          </p:cNvPicPr>
          <p:nvPr/>
        </p:nvPicPr>
        <p:blipFill>
          <a:blip r:embed="rId2"/>
          <a:stretch>
            <a:fillRect/>
          </a:stretch>
        </p:blipFill>
        <p:spPr>
          <a:xfrm>
            <a:off x="9959838" y="1232473"/>
            <a:ext cx="1924050" cy="638175"/>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002FFE74-B674-4204-9235-22B6FA73CF0B}"/>
              </a:ext>
            </a:extLst>
          </p:cNvPr>
          <p:cNvPicPr>
            <a:picLocks noChangeAspect="1"/>
          </p:cNvPicPr>
          <p:nvPr/>
        </p:nvPicPr>
        <p:blipFill>
          <a:blip r:embed="rId3"/>
          <a:stretch>
            <a:fillRect/>
          </a:stretch>
        </p:blipFill>
        <p:spPr>
          <a:xfrm>
            <a:off x="9715703" y="5952287"/>
            <a:ext cx="2194560" cy="563340"/>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C722AF84-F8BB-4C32-A1FE-3D67A55D0140}"/>
              </a:ext>
            </a:extLst>
          </p:cNvPr>
          <p:cNvPicPr>
            <a:picLocks noChangeAspect="1"/>
          </p:cNvPicPr>
          <p:nvPr/>
        </p:nvPicPr>
        <p:blipFill>
          <a:blip r:embed="rId4"/>
          <a:stretch>
            <a:fillRect/>
          </a:stretch>
        </p:blipFill>
        <p:spPr>
          <a:xfrm>
            <a:off x="9855063" y="2252965"/>
            <a:ext cx="2133600" cy="666750"/>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941D5B8C-564B-4771-9B26-565347E07D12}"/>
              </a:ext>
            </a:extLst>
          </p:cNvPr>
          <p:cNvPicPr>
            <a:picLocks noChangeAspect="1"/>
          </p:cNvPicPr>
          <p:nvPr/>
        </p:nvPicPr>
        <p:blipFill>
          <a:blip r:embed="rId5"/>
          <a:stretch>
            <a:fillRect/>
          </a:stretch>
        </p:blipFill>
        <p:spPr>
          <a:xfrm>
            <a:off x="10140813" y="4085888"/>
            <a:ext cx="1562100" cy="685800"/>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E94AF59B-7FAD-4B88-8D25-3C223C2C74AB}"/>
              </a:ext>
            </a:extLst>
          </p:cNvPr>
          <p:cNvPicPr>
            <a:picLocks noChangeAspect="1"/>
          </p:cNvPicPr>
          <p:nvPr/>
        </p:nvPicPr>
        <p:blipFill>
          <a:blip r:embed="rId6"/>
          <a:stretch>
            <a:fillRect/>
          </a:stretch>
        </p:blipFill>
        <p:spPr>
          <a:xfrm>
            <a:off x="9959838" y="4930553"/>
            <a:ext cx="1771650" cy="714375"/>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B7D1281F-3E6B-43F0-BD56-2176759155BF}"/>
              </a:ext>
            </a:extLst>
          </p:cNvPr>
          <p:cNvPicPr>
            <a:picLocks noChangeAspect="1"/>
          </p:cNvPicPr>
          <p:nvPr/>
        </p:nvPicPr>
        <p:blipFill>
          <a:blip r:embed="rId7"/>
          <a:stretch>
            <a:fillRect/>
          </a:stretch>
        </p:blipFill>
        <p:spPr>
          <a:xfrm>
            <a:off x="9993885" y="3145614"/>
            <a:ext cx="1952625" cy="71437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6375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n-lt"/>
                <a:ea typeface="SimSun" panose="02010600030101010101" pitchFamily="2" charset="-122"/>
              </a:rPr>
              <a:t>Integration Services Project – Containers  &amp; Map</a:t>
            </a:r>
            <a:endParaRPr lang="en-NZ" sz="240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512069CF-9B4F-42CA-AC69-D23257CE0011}"/>
              </a:ext>
            </a:extLst>
          </p:cNvPr>
          <p:cNvPicPr>
            <a:picLocks noChangeAspect="1"/>
          </p:cNvPicPr>
          <p:nvPr/>
        </p:nvPicPr>
        <p:blipFill>
          <a:blip r:embed="rId2"/>
          <a:stretch>
            <a:fillRect/>
          </a:stretch>
        </p:blipFill>
        <p:spPr>
          <a:xfrm>
            <a:off x="340468" y="664504"/>
            <a:ext cx="11511064" cy="6131739"/>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E0EE7379-295E-473E-B97F-7EFEB74E52D2}"/>
              </a:ext>
            </a:extLst>
          </p:cNvPr>
          <p:cNvSpPr txBox="1"/>
          <p:nvPr/>
        </p:nvSpPr>
        <p:spPr>
          <a:xfrm>
            <a:off x="4737370" y="749029"/>
            <a:ext cx="2250488" cy="307777"/>
          </a:xfrm>
          <a:prstGeom prst="rect">
            <a:avLst/>
          </a:prstGeom>
          <a:noFill/>
        </p:spPr>
        <p:txBody>
          <a:bodyPr wrap="none" rtlCol="0">
            <a:spAutoFit/>
          </a:bodyPr>
          <a:lstStyle/>
          <a:p>
            <a:r>
              <a:rPr lang="en-US" sz="1400" i="1">
                <a:solidFill>
                  <a:srgbClr val="FF0000"/>
                </a:solidFill>
              </a:rPr>
              <a:t>Create DQ Rule Table &amp; Proc</a:t>
            </a:r>
          </a:p>
        </p:txBody>
      </p:sp>
      <p:sp>
        <p:nvSpPr>
          <p:cNvPr id="9" name="TextBox 8">
            <a:extLst>
              <a:ext uri="{FF2B5EF4-FFF2-40B4-BE49-F238E27FC236}">
                <a16:creationId xmlns:a16="http://schemas.microsoft.com/office/drawing/2014/main" id="{9471F367-7B26-4927-A5FB-D5A58FFFDCE1}"/>
              </a:ext>
            </a:extLst>
          </p:cNvPr>
          <p:cNvSpPr txBox="1"/>
          <p:nvPr/>
        </p:nvSpPr>
        <p:spPr>
          <a:xfrm>
            <a:off x="6987858" y="576432"/>
            <a:ext cx="2642525" cy="523220"/>
          </a:xfrm>
          <a:prstGeom prst="rect">
            <a:avLst/>
          </a:prstGeom>
          <a:noFill/>
        </p:spPr>
        <p:txBody>
          <a:bodyPr wrap="square" rtlCol="0">
            <a:spAutoFit/>
          </a:bodyPr>
          <a:lstStyle/>
          <a:p>
            <a:r>
              <a:rPr lang="en-US" sz="1400" i="1">
                <a:solidFill>
                  <a:srgbClr val="FF0000"/>
                </a:solidFill>
              </a:rPr>
              <a:t>Identity Insert “Unknown” into Dimension tables</a:t>
            </a:r>
          </a:p>
        </p:txBody>
      </p:sp>
      <p:sp>
        <p:nvSpPr>
          <p:cNvPr id="10" name="TextBox 9">
            <a:extLst>
              <a:ext uri="{FF2B5EF4-FFF2-40B4-BE49-F238E27FC236}">
                <a16:creationId xmlns:a16="http://schemas.microsoft.com/office/drawing/2014/main" id="{FD7786A1-6C34-4074-A4D9-0B4308FD302C}"/>
              </a:ext>
            </a:extLst>
          </p:cNvPr>
          <p:cNvSpPr txBox="1"/>
          <p:nvPr/>
        </p:nvSpPr>
        <p:spPr>
          <a:xfrm>
            <a:off x="340468" y="2372806"/>
            <a:ext cx="1841458" cy="738664"/>
          </a:xfrm>
          <a:prstGeom prst="rect">
            <a:avLst/>
          </a:prstGeom>
          <a:noFill/>
        </p:spPr>
        <p:txBody>
          <a:bodyPr wrap="square" rtlCol="0">
            <a:spAutoFit/>
          </a:bodyPr>
          <a:lstStyle/>
          <a:p>
            <a:r>
              <a:rPr lang="en-US" sz="1400" i="1">
                <a:solidFill>
                  <a:srgbClr val="FF0000"/>
                </a:solidFill>
              </a:rPr>
              <a:t>Create Database, Dimension &amp; Fact Tables if not exists</a:t>
            </a:r>
          </a:p>
        </p:txBody>
      </p:sp>
      <p:cxnSp>
        <p:nvCxnSpPr>
          <p:cNvPr id="11" name="Connector: Curved 10">
            <a:extLst>
              <a:ext uri="{FF2B5EF4-FFF2-40B4-BE49-F238E27FC236}">
                <a16:creationId xmlns:a16="http://schemas.microsoft.com/office/drawing/2014/main" id="{EFA9829F-20A0-4756-9257-324C5875B563}"/>
              </a:ext>
            </a:extLst>
          </p:cNvPr>
          <p:cNvCxnSpPr>
            <a:cxnSpLocks/>
          </p:cNvCxnSpPr>
          <p:nvPr/>
        </p:nvCxnSpPr>
        <p:spPr>
          <a:xfrm flipV="1">
            <a:off x="1887166" y="2431173"/>
            <a:ext cx="651753" cy="457943"/>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84F05C1F-B49D-4119-A4D6-68E30D73172C}"/>
              </a:ext>
            </a:extLst>
          </p:cNvPr>
          <p:cNvCxnSpPr>
            <a:cxnSpLocks/>
          </p:cNvCxnSpPr>
          <p:nvPr/>
        </p:nvCxnSpPr>
        <p:spPr>
          <a:xfrm rot="16200000" flipV="1">
            <a:off x="1942642" y="2420860"/>
            <a:ext cx="331189" cy="147380"/>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ABEC61E-C817-49E0-924D-777197132CD2}"/>
              </a:ext>
            </a:extLst>
          </p:cNvPr>
          <p:cNvSpPr txBox="1"/>
          <p:nvPr/>
        </p:nvSpPr>
        <p:spPr>
          <a:xfrm>
            <a:off x="9269231" y="3111470"/>
            <a:ext cx="2760798" cy="523220"/>
          </a:xfrm>
          <a:prstGeom prst="rect">
            <a:avLst/>
          </a:prstGeom>
          <a:noFill/>
        </p:spPr>
        <p:txBody>
          <a:bodyPr wrap="square" rtlCol="0">
            <a:spAutoFit/>
          </a:bodyPr>
          <a:lstStyle/>
          <a:p>
            <a:r>
              <a:rPr lang="en-US" sz="1400" i="1">
                <a:solidFill>
                  <a:srgbClr val="FF0000"/>
                </a:solidFill>
              </a:rPr>
              <a:t>Load Fact Table &amp; DQ Rule from </a:t>
            </a:r>
            <a:r>
              <a:rPr lang="en-US" sz="1400" i="1" err="1">
                <a:solidFill>
                  <a:srgbClr val="FF0000"/>
                </a:solidFill>
              </a:rPr>
              <a:t>SaleAU_NZ</a:t>
            </a:r>
            <a:r>
              <a:rPr lang="en-US" sz="1400" i="1">
                <a:solidFill>
                  <a:srgbClr val="FF0000"/>
                </a:solidFill>
              </a:rPr>
              <a:t> &amp; </a:t>
            </a:r>
            <a:r>
              <a:rPr lang="en-US" sz="1400" i="1" err="1">
                <a:solidFill>
                  <a:srgbClr val="FF0000"/>
                </a:solidFill>
              </a:rPr>
              <a:t>Salemodels</a:t>
            </a:r>
            <a:endParaRPr lang="en-US" sz="1400" i="1">
              <a:solidFill>
                <a:srgbClr val="FF0000"/>
              </a:solidFill>
            </a:endParaRPr>
          </a:p>
        </p:txBody>
      </p:sp>
      <p:cxnSp>
        <p:nvCxnSpPr>
          <p:cNvPr id="18" name="Connector: Curved 17">
            <a:extLst>
              <a:ext uri="{FF2B5EF4-FFF2-40B4-BE49-F238E27FC236}">
                <a16:creationId xmlns:a16="http://schemas.microsoft.com/office/drawing/2014/main" id="{52F4C282-A448-417F-AE73-7628E27727B9}"/>
              </a:ext>
            </a:extLst>
          </p:cNvPr>
          <p:cNvCxnSpPr>
            <a:cxnSpLocks/>
            <a:stCxn id="17" idx="2"/>
          </p:cNvCxnSpPr>
          <p:nvPr/>
        </p:nvCxnSpPr>
        <p:spPr>
          <a:xfrm rot="5400000">
            <a:off x="9106364" y="3010846"/>
            <a:ext cx="919423" cy="2167111"/>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E2D1F87A-8267-4940-9EFB-83E192CA3FD2}"/>
              </a:ext>
            </a:extLst>
          </p:cNvPr>
          <p:cNvCxnSpPr>
            <a:cxnSpLocks/>
            <a:stCxn id="17" idx="2"/>
          </p:cNvCxnSpPr>
          <p:nvPr/>
        </p:nvCxnSpPr>
        <p:spPr>
          <a:xfrm rot="5400000">
            <a:off x="10244204" y="4040116"/>
            <a:ext cx="810853" cy="127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99ADA9D-F736-4BE1-B2E2-BB2B42B89976}"/>
              </a:ext>
            </a:extLst>
          </p:cNvPr>
          <p:cNvSpPr txBox="1"/>
          <p:nvPr/>
        </p:nvSpPr>
        <p:spPr>
          <a:xfrm>
            <a:off x="1016933" y="6370299"/>
            <a:ext cx="2760798" cy="307777"/>
          </a:xfrm>
          <a:prstGeom prst="rect">
            <a:avLst/>
          </a:prstGeom>
          <a:noFill/>
        </p:spPr>
        <p:txBody>
          <a:bodyPr wrap="square" rtlCol="0">
            <a:spAutoFit/>
          </a:bodyPr>
          <a:lstStyle/>
          <a:p>
            <a:r>
              <a:rPr lang="en-US" sz="1400" i="1">
                <a:solidFill>
                  <a:srgbClr val="FF0000"/>
                </a:solidFill>
              </a:rPr>
              <a:t>Load DIM Tables &amp; DQ Rule</a:t>
            </a:r>
          </a:p>
        </p:txBody>
      </p:sp>
    </p:spTree>
    <p:extLst>
      <p:ext uri="{BB962C8B-B14F-4D97-AF65-F5344CB8AC3E}">
        <p14:creationId xmlns:p14="http://schemas.microsoft.com/office/powerpoint/2010/main" val="97573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n-lt"/>
                <a:ea typeface="SimSun" panose="02010600030101010101" pitchFamily="2" charset="-122"/>
              </a:rPr>
              <a:t>Identify Insert</a:t>
            </a:r>
            <a:endParaRPr lang="en-NZ" sz="2400">
              <a:solidFill>
                <a:schemeClr val="bg1"/>
              </a:solidFill>
              <a:effectLst/>
              <a:latin typeface="+mn-lt"/>
              <a:ea typeface="Times New Roman" panose="02020603050405020304" pitchFamily="18" charset="0"/>
            </a:endParaRPr>
          </a:p>
        </p:txBody>
      </p:sp>
      <p:sp>
        <p:nvSpPr>
          <p:cNvPr id="8" name="TextBox 7">
            <a:extLst>
              <a:ext uri="{FF2B5EF4-FFF2-40B4-BE49-F238E27FC236}">
                <a16:creationId xmlns:a16="http://schemas.microsoft.com/office/drawing/2014/main" id="{D19F2194-ED1D-484F-874D-017CDFDDB721}"/>
              </a:ext>
            </a:extLst>
          </p:cNvPr>
          <p:cNvSpPr txBox="1"/>
          <p:nvPr/>
        </p:nvSpPr>
        <p:spPr>
          <a:xfrm>
            <a:off x="432915" y="3399816"/>
            <a:ext cx="7144932" cy="3033203"/>
          </a:xfrm>
          <a:prstGeom prst="rect">
            <a:avLst/>
          </a:prstGeom>
          <a:noFill/>
        </p:spPr>
        <p:txBody>
          <a:bodyPr wrap="square">
            <a:spAutoFit/>
          </a:bodyPr>
          <a:lstStyle/>
          <a:p>
            <a:pPr marR="0" lvl="0" algn="just">
              <a:lnSpc>
                <a:spcPct val="105000"/>
              </a:lnSpc>
              <a:spcBef>
                <a:spcPts val="0"/>
              </a:spcBef>
              <a:spcAft>
                <a:spcPts val="600"/>
              </a:spcAft>
            </a:pPr>
            <a:r>
              <a:rPr lang="en-US" sz="1400">
                <a:effectLst/>
                <a:ea typeface="SimSun" panose="02010600030101010101" pitchFamily="2" charset="-122"/>
              </a:rPr>
              <a:t>If not exists (select 1 from </a:t>
            </a:r>
            <a:r>
              <a:rPr lang="en-US" sz="1400" err="1">
                <a:effectLst/>
                <a:ea typeface="SimSun" panose="02010600030101010101" pitchFamily="2" charset="-122"/>
              </a:rPr>
              <a:t>dbo.DIMcustomer</a:t>
            </a:r>
            <a:r>
              <a:rPr lang="en-US" sz="1400">
                <a:effectLst/>
                <a:ea typeface="SimSun" panose="02010600030101010101" pitchFamily="2" charset="-122"/>
              </a:rPr>
              <a:t> where </a:t>
            </a:r>
            <a:r>
              <a:rPr lang="en-US" sz="1400" err="1">
                <a:effectLst/>
                <a:ea typeface="SimSun" panose="02010600030101010101" pitchFamily="2" charset="-122"/>
              </a:rPr>
              <a:t>CustomerKey</a:t>
            </a:r>
            <a:r>
              <a:rPr lang="en-US" sz="1400">
                <a:effectLst/>
                <a:ea typeface="SimSun" panose="02010600030101010101" pitchFamily="2" charset="-122"/>
              </a:rPr>
              <a:t> = -1) </a:t>
            </a:r>
          </a:p>
          <a:p>
            <a:pPr marR="0" lvl="0" algn="just">
              <a:lnSpc>
                <a:spcPct val="105000"/>
              </a:lnSpc>
              <a:spcBef>
                <a:spcPts val="0"/>
              </a:spcBef>
              <a:spcAft>
                <a:spcPts val="600"/>
              </a:spcAft>
            </a:pPr>
            <a:r>
              <a:rPr lang="en-US" sz="1400">
                <a:effectLst/>
                <a:ea typeface="SimSun" panose="02010600030101010101" pitchFamily="2" charset="-122"/>
              </a:rPr>
              <a:t>BEGIN</a:t>
            </a:r>
          </a:p>
          <a:p>
            <a:pPr marR="0" lvl="0" algn="just">
              <a:lnSpc>
                <a:spcPct val="105000"/>
              </a:lnSpc>
              <a:spcBef>
                <a:spcPts val="0"/>
              </a:spcBef>
              <a:spcAft>
                <a:spcPts val="600"/>
              </a:spcAft>
            </a:pPr>
            <a:r>
              <a:rPr lang="en-US" sz="1400">
                <a:effectLst/>
                <a:ea typeface="SimSun" panose="02010600030101010101" pitchFamily="2" charset="-122"/>
              </a:rPr>
              <a:t>SET IDENTITY_INSERT </a:t>
            </a:r>
            <a:r>
              <a:rPr lang="en-US" sz="1400" err="1">
                <a:effectLst/>
                <a:ea typeface="SimSun" panose="02010600030101010101" pitchFamily="2" charset="-122"/>
              </a:rPr>
              <a:t>dbo.dimcustomer</a:t>
            </a:r>
            <a:r>
              <a:rPr lang="en-US" sz="1400">
                <a:effectLst/>
                <a:ea typeface="SimSun" panose="02010600030101010101" pitchFamily="2" charset="-122"/>
              </a:rPr>
              <a:t> ON</a:t>
            </a:r>
          </a:p>
          <a:p>
            <a:pPr marR="0" lvl="0" algn="just">
              <a:lnSpc>
                <a:spcPct val="105000"/>
              </a:lnSpc>
              <a:spcBef>
                <a:spcPts val="0"/>
              </a:spcBef>
              <a:spcAft>
                <a:spcPts val="600"/>
              </a:spcAft>
            </a:pPr>
            <a:r>
              <a:rPr lang="en-US" sz="1400">
                <a:effectLst/>
                <a:ea typeface="SimSun" panose="02010600030101010101" pitchFamily="2" charset="-122"/>
              </a:rPr>
              <a:t>INSERT INTO  </a:t>
            </a:r>
            <a:r>
              <a:rPr lang="en-US" sz="1400" err="1">
                <a:effectLst/>
                <a:ea typeface="SimSun" panose="02010600030101010101" pitchFamily="2" charset="-122"/>
              </a:rPr>
              <a:t>dbo.DIMCustomer</a:t>
            </a:r>
            <a:r>
              <a:rPr lang="en-US" sz="1400">
                <a:effectLst/>
                <a:ea typeface="SimSun" panose="02010600030101010101" pitchFamily="2" charset="-122"/>
              </a:rPr>
              <a:t> (</a:t>
            </a:r>
            <a:r>
              <a:rPr lang="en-US" sz="1400" err="1">
                <a:effectLst/>
                <a:ea typeface="SimSun" panose="02010600030101010101" pitchFamily="2" charset="-122"/>
              </a:rPr>
              <a:t>customerkey</a:t>
            </a:r>
            <a:r>
              <a:rPr lang="en-US" sz="1400">
                <a:effectLst/>
                <a:ea typeface="SimSun" panose="02010600030101010101" pitchFamily="2" charset="-122"/>
              </a:rPr>
              <a:t>, </a:t>
            </a:r>
            <a:r>
              <a:rPr lang="en-US" sz="1400" err="1">
                <a:effectLst/>
                <a:ea typeface="SimSun" panose="02010600030101010101" pitchFamily="2" charset="-122"/>
              </a:rPr>
              <a:t>customerNumber</a:t>
            </a:r>
            <a:r>
              <a:rPr lang="en-US" sz="1400">
                <a:effectLst/>
                <a:ea typeface="SimSun" panose="02010600030101010101" pitchFamily="2" charset="-122"/>
              </a:rPr>
              <a:t>, </a:t>
            </a:r>
            <a:r>
              <a:rPr lang="en-US" sz="1400" err="1">
                <a:effectLst/>
                <a:ea typeface="SimSun" panose="02010600030101010101" pitchFamily="2" charset="-122"/>
              </a:rPr>
              <a:t>customerName</a:t>
            </a:r>
            <a:r>
              <a:rPr lang="en-US" sz="1400">
                <a:effectLst/>
                <a:ea typeface="SimSun" panose="02010600030101010101" pitchFamily="2" charset="-122"/>
              </a:rPr>
              <a:t>, </a:t>
            </a:r>
            <a:r>
              <a:rPr lang="en-US" sz="1400" err="1">
                <a:effectLst/>
                <a:ea typeface="SimSun" panose="02010600030101010101" pitchFamily="2" charset="-122"/>
              </a:rPr>
              <a:t>contactLastName</a:t>
            </a:r>
            <a:r>
              <a:rPr lang="en-US" sz="1400">
                <a:effectLst/>
                <a:ea typeface="SimSun" panose="02010600030101010101" pitchFamily="2" charset="-122"/>
              </a:rPr>
              <a:t>, </a:t>
            </a:r>
            <a:r>
              <a:rPr lang="en-US" sz="1400" err="1">
                <a:effectLst/>
                <a:ea typeface="SimSun" panose="02010600030101010101" pitchFamily="2" charset="-122"/>
              </a:rPr>
              <a:t>contactFirstName</a:t>
            </a:r>
            <a:r>
              <a:rPr lang="en-US" sz="1400">
                <a:effectLst/>
                <a:ea typeface="SimSun" panose="02010600030101010101" pitchFamily="2" charset="-122"/>
              </a:rPr>
              <a:t>, phone, addressLine1, addressLine2, city, state, </a:t>
            </a:r>
            <a:r>
              <a:rPr lang="en-US" sz="1400" err="1">
                <a:effectLst/>
                <a:ea typeface="SimSun" panose="02010600030101010101" pitchFamily="2" charset="-122"/>
              </a:rPr>
              <a:t>postalCode</a:t>
            </a:r>
            <a:r>
              <a:rPr lang="en-US" sz="1400">
                <a:effectLst/>
                <a:ea typeface="SimSun" panose="02010600030101010101" pitchFamily="2" charset="-122"/>
              </a:rPr>
              <a:t>, country, </a:t>
            </a:r>
            <a:r>
              <a:rPr lang="en-US" sz="1400" err="1">
                <a:effectLst/>
                <a:ea typeface="SimSun" panose="02010600030101010101" pitchFamily="2" charset="-122"/>
              </a:rPr>
              <a:t>CreditLimit</a:t>
            </a:r>
            <a:r>
              <a:rPr lang="en-US" sz="1400">
                <a:effectLst/>
                <a:ea typeface="SimSun" panose="02010600030101010101" pitchFamily="2" charset="-122"/>
              </a:rPr>
              <a:t>)</a:t>
            </a:r>
          </a:p>
          <a:p>
            <a:pPr marR="0" lvl="0" algn="just">
              <a:lnSpc>
                <a:spcPct val="105000"/>
              </a:lnSpc>
              <a:spcBef>
                <a:spcPts val="0"/>
              </a:spcBef>
              <a:spcAft>
                <a:spcPts val="600"/>
              </a:spcAft>
            </a:pPr>
            <a:r>
              <a:rPr lang="en-US" sz="1400">
                <a:effectLst/>
                <a:ea typeface="SimSun" panose="02010600030101010101" pitchFamily="2" charset="-122"/>
              </a:rPr>
              <a:t>Select -1,-1,'unknown','unknown','unknown','unknown','unknown','unknown','unknown','unknown','unknown','unknown', -1</a:t>
            </a:r>
          </a:p>
          <a:p>
            <a:pPr marR="0" lvl="0" algn="just">
              <a:lnSpc>
                <a:spcPct val="105000"/>
              </a:lnSpc>
              <a:spcBef>
                <a:spcPts val="0"/>
              </a:spcBef>
              <a:spcAft>
                <a:spcPts val="600"/>
              </a:spcAft>
            </a:pPr>
            <a:r>
              <a:rPr lang="en-US" sz="1400">
                <a:effectLst/>
                <a:ea typeface="SimSun" panose="02010600030101010101" pitchFamily="2" charset="-122"/>
              </a:rPr>
              <a:t>SET IDENTITY_INSERT </a:t>
            </a:r>
            <a:r>
              <a:rPr lang="en-US" sz="1400" err="1">
                <a:effectLst/>
                <a:ea typeface="SimSun" panose="02010600030101010101" pitchFamily="2" charset="-122"/>
              </a:rPr>
              <a:t>dbo.dimcustomer</a:t>
            </a:r>
            <a:r>
              <a:rPr lang="en-US" sz="1400">
                <a:effectLst/>
                <a:ea typeface="SimSun" panose="02010600030101010101" pitchFamily="2" charset="-122"/>
              </a:rPr>
              <a:t> OFF</a:t>
            </a:r>
          </a:p>
          <a:p>
            <a:pPr marR="0" lvl="0" algn="just">
              <a:lnSpc>
                <a:spcPct val="105000"/>
              </a:lnSpc>
              <a:spcBef>
                <a:spcPts val="0"/>
              </a:spcBef>
              <a:spcAft>
                <a:spcPts val="600"/>
              </a:spcAft>
            </a:pPr>
            <a:r>
              <a:rPr lang="en-US" sz="1400">
                <a:effectLst/>
                <a:ea typeface="SimSun" panose="02010600030101010101" pitchFamily="2" charset="-122"/>
              </a:rPr>
              <a:t>END</a:t>
            </a:r>
            <a:endParaRPr lang="en-US">
              <a:effectLst/>
              <a:ea typeface="Times New Roman" panose="02020603050405020304" pitchFamily="18" charset="0"/>
            </a:endParaRPr>
          </a:p>
        </p:txBody>
      </p:sp>
      <p:pic>
        <p:nvPicPr>
          <p:cNvPr id="5" name="Picture 4">
            <a:extLst>
              <a:ext uri="{FF2B5EF4-FFF2-40B4-BE49-F238E27FC236}">
                <a16:creationId xmlns:a16="http://schemas.microsoft.com/office/drawing/2014/main" id="{C0C4EDDA-D4AC-4E43-ACD2-9E4778504374}"/>
              </a:ext>
            </a:extLst>
          </p:cNvPr>
          <p:cNvPicPr>
            <a:picLocks noChangeAspect="1"/>
          </p:cNvPicPr>
          <p:nvPr/>
        </p:nvPicPr>
        <p:blipFill>
          <a:blip r:embed="rId2"/>
          <a:stretch>
            <a:fillRect/>
          </a:stretch>
        </p:blipFill>
        <p:spPr>
          <a:xfrm>
            <a:off x="7924193" y="2797680"/>
            <a:ext cx="3097246" cy="3811150"/>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8E907C14-7215-4AFF-8B3A-7971F3CEE49A}"/>
              </a:ext>
            </a:extLst>
          </p:cNvPr>
          <p:cNvSpPr txBox="1"/>
          <p:nvPr/>
        </p:nvSpPr>
        <p:spPr>
          <a:xfrm>
            <a:off x="432915" y="756845"/>
            <a:ext cx="11580745" cy="1600438"/>
          </a:xfrm>
          <a:prstGeom prst="rect">
            <a:avLst/>
          </a:prstGeom>
          <a:noFill/>
        </p:spPr>
        <p:txBody>
          <a:bodyPr wrap="square">
            <a:spAutoFit/>
          </a:bodyPr>
          <a:lstStyle/>
          <a:p>
            <a:pPr algn="l"/>
            <a:r>
              <a:rPr lang="en-US" sz="1400" b="0" i="0">
                <a:solidFill>
                  <a:srgbClr val="373737"/>
                </a:solidFill>
                <a:effectLst/>
              </a:rPr>
              <a:t>If the dimension doesn’t have a value for the business key that we are trying to find, we have a problem.  </a:t>
            </a:r>
          </a:p>
          <a:p>
            <a:pPr algn="l"/>
            <a:endParaRPr lang="en-US" sz="1400">
              <a:solidFill>
                <a:srgbClr val="373737"/>
              </a:solidFill>
            </a:endParaRPr>
          </a:p>
          <a:p>
            <a:pPr algn="l"/>
            <a:r>
              <a:rPr lang="en-US" sz="1400" b="0" i="0">
                <a:solidFill>
                  <a:srgbClr val="373737"/>
                </a:solidFill>
                <a:effectLst/>
              </a:rPr>
              <a:t>Goal is to allow all data to flow through, into the fact table so we don’t lose it, but if we leave our surrogate key value NULL then it’s going to break referential integrity.  It also means we must cater for nulls when joining between dimension and fact or risk our figures being inaccurate.</a:t>
            </a:r>
          </a:p>
          <a:p>
            <a:pPr algn="l"/>
            <a:endParaRPr lang="en-US" sz="1400" b="0" i="0">
              <a:solidFill>
                <a:srgbClr val="373737"/>
              </a:solidFill>
              <a:effectLst/>
            </a:endParaRPr>
          </a:p>
          <a:p>
            <a:pPr algn="l"/>
            <a:r>
              <a:rPr lang="en-US" sz="1400" b="0" i="0">
                <a:solidFill>
                  <a:srgbClr val="373737"/>
                </a:solidFill>
                <a:effectLst/>
              </a:rPr>
              <a:t>So, the approach we have taken here is to generate your own unknown/not assigned member key in each dimension.  This is essentially a catch-all for any fact records that don’t find a match in the dimension. </a:t>
            </a:r>
          </a:p>
        </p:txBody>
      </p:sp>
      <p:sp>
        <p:nvSpPr>
          <p:cNvPr id="6" name="Rectangle: Rounded Corners 5">
            <a:extLst>
              <a:ext uri="{FF2B5EF4-FFF2-40B4-BE49-F238E27FC236}">
                <a16:creationId xmlns:a16="http://schemas.microsoft.com/office/drawing/2014/main" id="{88ED60FA-7B88-46E1-9B44-C1EB05724CE7}"/>
              </a:ext>
            </a:extLst>
          </p:cNvPr>
          <p:cNvSpPr/>
          <p:nvPr/>
        </p:nvSpPr>
        <p:spPr>
          <a:xfrm>
            <a:off x="432915" y="2872833"/>
            <a:ext cx="1590438" cy="238561"/>
          </a:xfrm>
          <a:prstGeom prst="roundRect">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a:t>Sample Script</a:t>
            </a:r>
          </a:p>
        </p:txBody>
      </p:sp>
    </p:spTree>
    <p:extLst>
      <p:ext uri="{BB962C8B-B14F-4D97-AF65-F5344CB8AC3E}">
        <p14:creationId xmlns:p14="http://schemas.microsoft.com/office/powerpoint/2010/main" val="1345060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n-lt"/>
                <a:ea typeface="SimSun" panose="02010600030101010101" pitchFamily="2" charset="-122"/>
              </a:rPr>
              <a:t>Insert &amp; Update Dimension Tables </a:t>
            </a:r>
            <a:r>
              <a:rPr lang="en-NZ">
                <a:solidFill>
                  <a:schemeClr val="bg1"/>
                </a:solidFill>
                <a:effectLst/>
                <a:latin typeface="+mn-lt"/>
                <a:ea typeface="SimSun" panose="02010600030101010101" pitchFamily="2" charset="-122"/>
              </a:rPr>
              <a:t>(Understanding </a:t>
            </a:r>
            <a:r>
              <a:rPr lang="en-NZ" err="1">
                <a:solidFill>
                  <a:schemeClr val="bg1"/>
                </a:solidFill>
                <a:effectLst/>
                <a:latin typeface="+mn-lt"/>
                <a:ea typeface="SimSun" panose="02010600030101010101" pitchFamily="2" charset="-122"/>
              </a:rPr>
              <a:t>DimProduct</a:t>
            </a:r>
            <a:r>
              <a:rPr lang="en-NZ">
                <a:solidFill>
                  <a:schemeClr val="bg1"/>
                </a:solidFill>
                <a:effectLst/>
                <a:latin typeface="+mn-lt"/>
                <a:ea typeface="SimSun" panose="02010600030101010101" pitchFamily="2" charset="-122"/>
              </a:rPr>
              <a:t> Data Flow)</a:t>
            </a:r>
            <a:endParaRPr lang="en-NZ" sz="240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5595221F-9DB1-4488-ACA3-60C845C98580}"/>
              </a:ext>
            </a:extLst>
          </p:cNvPr>
          <p:cNvPicPr>
            <a:picLocks noChangeAspect="1"/>
          </p:cNvPicPr>
          <p:nvPr/>
        </p:nvPicPr>
        <p:blipFill>
          <a:blip r:embed="rId2"/>
          <a:stretch>
            <a:fillRect/>
          </a:stretch>
        </p:blipFill>
        <p:spPr>
          <a:xfrm>
            <a:off x="3837784" y="883241"/>
            <a:ext cx="8205971" cy="5371644"/>
          </a:xfrm>
          <a:prstGeom prst="rect">
            <a:avLst/>
          </a:prstGeom>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99CC88B4-02C5-4598-B88B-5B81CB8CF833}"/>
              </a:ext>
            </a:extLst>
          </p:cNvPr>
          <p:cNvSpPr/>
          <p:nvPr/>
        </p:nvSpPr>
        <p:spPr>
          <a:xfrm>
            <a:off x="288586" y="764428"/>
            <a:ext cx="3320376" cy="484573"/>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2742C69-BA69-4368-994E-9686AA0183A4}"/>
              </a:ext>
            </a:extLst>
          </p:cNvPr>
          <p:cNvSpPr/>
          <p:nvPr/>
        </p:nvSpPr>
        <p:spPr>
          <a:xfrm>
            <a:off x="288586" y="2498307"/>
            <a:ext cx="3320376" cy="479997"/>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9D010B4D-BE89-4AEB-B5EA-553E7FEC4002}"/>
              </a:ext>
            </a:extLst>
          </p:cNvPr>
          <p:cNvSpPr/>
          <p:nvPr/>
        </p:nvSpPr>
        <p:spPr>
          <a:xfrm>
            <a:off x="288586" y="4856280"/>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22F8C99-2894-4124-ABBB-DE995456DC78}"/>
              </a:ext>
            </a:extLst>
          </p:cNvPr>
          <p:cNvSpPr/>
          <p:nvPr/>
        </p:nvSpPr>
        <p:spPr>
          <a:xfrm>
            <a:off x="288586" y="5991438"/>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9F02DABD-89EB-43D5-8C34-39F186F3BE6A}"/>
              </a:ext>
            </a:extLst>
          </p:cNvPr>
          <p:cNvSpPr/>
          <p:nvPr/>
        </p:nvSpPr>
        <p:spPr>
          <a:xfrm>
            <a:off x="288586" y="5423857"/>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973428E-7C69-4260-A695-DFD934A3E059}"/>
              </a:ext>
            </a:extLst>
          </p:cNvPr>
          <p:cNvSpPr/>
          <p:nvPr/>
        </p:nvSpPr>
        <p:spPr>
          <a:xfrm>
            <a:off x="288586" y="1450818"/>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FCC17BC-1E89-4EAC-B795-5ED863E397DC}"/>
              </a:ext>
            </a:extLst>
          </p:cNvPr>
          <p:cNvSpPr/>
          <p:nvPr/>
        </p:nvSpPr>
        <p:spPr>
          <a:xfrm>
            <a:off x="288586" y="2018395"/>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1805947-1326-4E18-90B1-7AE657D66BB9}"/>
              </a:ext>
            </a:extLst>
          </p:cNvPr>
          <p:cNvSpPr/>
          <p:nvPr/>
        </p:nvSpPr>
        <p:spPr>
          <a:xfrm>
            <a:off x="288586" y="3153549"/>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86DB882-AD1F-45DB-8F03-152E580EA621}"/>
              </a:ext>
            </a:extLst>
          </p:cNvPr>
          <p:cNvSpPr/>
          <p:nvPr/>
        </p:nvSpPr>
        <p:spPr>
          <a:xfrm>
            <a:off x="288586" y="3721126"/>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433B2A9B-38C9-470D-9F22-CC11FB23B50F}"/>
              </a:ext>
            </a:extLst>
          </p:cNvPr>
          <p:cNvSpPr/>
          <p:nvPr/>
        </p:nvSpPr>
        <p:spPr>
          <a:xfrm>
            <a:off x="288586" y="4213463"/>
            <a:ext cx="3320376" cy="479912"/>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1C835D6-66C3-4FF7-B081-2A7A1E98B906}"/>
              </a:ext>
            </a:extLst>
          </p:cNvPr>
          <p:cNvSpPr/>
          <p:nvPr/>
        </p:nvSpPr>
        <p:spPr>
          <a:xfrm>
            <a:off x="220493" y="1354312"/>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42AF70F-B3A1-4F29-BD66-E28F6AE8EE06}"/>
              </a:ext>
            </a:extLst>
          </p:cNvPr>
          <p:cNvSpPr/>
          <p:nvPr/>
        </p:nvSpPr>
        <p:spPr>
          <a:xfrm>
            <a:off x="220493" y="1920681"/>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F9EA388-C90D-47A2-8AF8-2828BBEC732C}"/>
              </a:ext>
            </a:extLst>
          </p:cNvPr>
          <p:cNvSpPr/>
          <p:nvPr/>
        </p:nvSpPr>
        <p:spPr>
          <a:xfrm>
            <a:off x="220493" y="2487050"/>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7D48D69-589C-42E4-A9D6-D8F631BA005B}"/>
              </a:ext>
            </a:extLst>
          </p:cNvPr>
          <p:cNvSpPr/>
          <p:nvPr/>
        </p:nvSpPr>
        <p:spPr>
          <a:xfrm>
            <a:off x="220493" y="3053419"/>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5F5DAB7-4776-4D2B-8F86-6C6B6A52BA82}"/>
              </a:ext>
            </a:extLst>
          </p:cNvPr>
          <p:cNvSpPr/>
          <p:nvPr/>
        </p:nvSpPr>
        <p:spPr>
          <a:xfrm>
            <a:off x="220493" y="3619788"/>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FA447E3-799C-478E-9BFD-F17C940C65CA}"/>
              </a:ext>
            </a:extLst>
          </p:cNvPr>
          <p:cNvSpPr/>
          <p:nvPr/>
        </p:nvSpPr>
        <p:spPr>
          <a:xfrm>
            <a:off x="220493" y="4186157"/>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0082F90-D58C-4ED9-A0AA-5BF1BC12B86C}"/>
              </a:ext>
            </a:extLst>
          </p:cNvPr>
          <p:cNvSpPr/>
          <p:nvPr/>
        </p:nvSpPr>
        <p:spPr>
          <a:xfrm>
            <a:off x="220493" y="4752526"/>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000E420-658E-4290-9BA2-1D00FBF0924E}"/>
              </a:ext>
            </a:extLst>
          </p:cNvPr>
          <p:cNvSpPr/>
          <p:nvPr/>
        </p:nvSpPr>
        <p:spPr>
          <a:xfrm>
            <a:off x="220493" y="5318895"/>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CD32C62-9123-411B-BE6E-35A1382CB5D4}"/>
              </a:ext>
            </a:extLst>
          </p:cNvPr>
          <p:cNvSpPr/>
          <p:nvPr/>
        </p:nvSpPr>
        <p:spPr>
          <a:xfrm>
            <a:off x="220493" y="5885262"/>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340F853C-F1C3-4756-87CB-7115E7E1A0B2}"/>
              </a:ext>
            </a:extLst>
          </p:cNvPr>
          <p:cNvGrpSpPr/>
          <p:nvPr/>
        </p:nvGrpSpPr>
        <p:grpSpPr>
          <a:xfrm>
            <a:off x="220492" y="773633"/>
            <a:ext cx="330742" cy="369332"/>
            <a:chOff x="220492" y="773633"/>
            <a:chExt cx="330742" cy="369332"/>
          </a:xfrm>
        </p:grpSpPr>
        <p:sp>
          <p:nvSpPr>
            <p:cNvPr id="16" name="Oval 15">
              <a:extLst>
                <a:ext uri="{FF2B5EF4-FFF2-40B4-BE49-F238E27FC236}">
                  <a16:creationId xmlns:a16="http://schemas.microsoft.com/office/drawing/2014/main" id="{167DC9CC-770C-4484-B3C7-51C09E197F56}"/>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48184A8-E655-44C5-9A47-12D5567DD4D2}"/>
                </a:ext>
              </a:extLst>
            </p:cNvPr>
            <p:cNvSpPr txBox="1"/>
            <p:nvPr/>
          </p:nvSpPr>
          <p:spPr>
            <a:xfrm>
              <a:off x="220492" y="773633"/>
              <a:ext cx="330741" cy="369332"/>
            </a:xfrm>
            <a:prstGeom prst="rect">
              <a:avLst/>
            </a:prstGeom>
            <a:noFill/>
          </p:spPr>
          <p:txBody>
            <a:bodyPr wrap="square" rtlCol="0">
              <a:spAutoFit/>
            </a:bodyPr>
            <a:lstStyle/>
            <a:p>
              <a:r>
                <a:rPr lang="en-US"/>
                <a:t>1</a:t>
              </a:r>
            </a:p>
          </p:txBody>
        </p:sp>
      </p:grpSp>
      <p:sp>
        <p:nvSpPr>
          <p:cNvPr id="31" name="TextBox 30">
            <a:extLst>
              <a:ext uri="{FF2B5EF4-FFF2-40B4-BE49-F238E27FC236}">
                <a16:creationId xmlns:a16="http://schemas.microsoft.com/office/drawing/2014/main" id="{B339F832-ABDE-4644-B243-051A06D6F70D}"/>
              </a:ext>
            </a:extLst>
          </p:cNvPr>
          <p:cNvSpPr txBox="1"/>
          <p:nvPr/>
        </p:nvSpPr>
        <p:spPr>
          <a:xfrm>
            <a:off x="233458" y="1325658"/>
            <a:ext cx="330741" cy="369332"/>
          </a:xfrm>
          <a:prstGeom prst="rect">
            <a:avLst/>
          </a:prstGeom>
          <a:noFill/>
        </p:spPr>
        <p:txBody>
          <a:bodyPr wrap="square" rtlCol="0">
            <a:spAutoFit/>
          </a:bodyPr>
          <a:lstStyle/>
          <a:p>
            <a:r>
              <a:rPr lang="en-US"/>
              <a:t>2</a:t>
            </a:r>
          </a:p>
        </p:txBody>
      </p:sp>
      <p:sp>
        <p:nvSpPr>
          <p:cNvPr id="32" name="TextBox 31">
            <a:extLst>
              <a:ext uri="{FF2B5EF4-FFF2-40B4-BE49-F238E27FC236}">
                <a16:creationId xmlns:a16="http://schemas.microsoft.com/office/drawing/2014/main" id="{DFF0CCC7-866F-4C25-B735-1E771739BB1A}"/>
              </a:ext>
            </a:extLst>
          </p:cNvPr>
          <p:cNvSpPr txBox="1"/>
          <p:nvPr/>
        </p:nvSpPr>
        <p:spPr>
          <a:xfrm>
            <a:off x="233458" y="1899216"/>
            <a:ext cx="330741" cy="369332"/>
          </a:xfrm>
          <a:prstGeom prst="rect">
            <a:avLst/>
          </a:prstGeom>
          <a:noFill/>
        </p:spPr>
        <p:txBody>
          <a:bodyPr wrap="square" rtlCol="0">
            <a:spAutoFit/>
          </a:bodyPr>
          <a:lstStyle/>
          <a:p>
            <a:r>
              <a:rPr lang="en-US"/>
              <a:t>3</a:t>
            </a:r>
          </a:p>
        </p:txBody>
      </p:sp>
      <p:sp>
        <p:nvSpPr>
          <p:cNvPr id="33" name="TextBox 32">
            <a:extLst>
              <a:ext uri="{FF2B5EF4-FFF2-40B4-BE49-F238E27FC236}">
                <a16:creationId xmlns:a16="http://schemas.microsoft.com/office/drawing/2014/main" id="{0950BC6E-F46F-4AAF-925B-8612A7FC9EAE}"/>
              </a:ext>
            </a:extLst>
          </p:cNvPr>
          <p:cNvSpPr txBox="1"/>
          <p:nvPr/>
        </p:nvSpPr>
        <p:spPr>
          <a:xfrm>
            <a:off x="233460" y="2486380"/>
            <a:ext cx="330741" cy="369332"/>
          </a:xfrm>
          <a:prstGeom prst="rect">
            <a:avLst/>
          </a:prstGeom>
          <a:noFill/>
        </p:spPr>
        <p:txBody>
          <a:bodyPr wrap="square" rtlCol="0">
            <a:spAutoFit/>
          </a:bodyPr>
          <a:lstStyle/>
          <a:p>
            <a:r>
              <a:rPr lang="en-US"/>
              <a:t>4</a:t>
            </a:r>
          </a:p>
        </p:txBody>
      </p:sp>
      <p:sp>
        <p:nvSpPr>
          <p:cNvPr id="34" name="TextBox 33">
            <a:extLst>
              <a:ext uri="{FF2B5EF4-FFF2-40B4-BE49-F238E27FC236}">
                <a16:creationId xmlns:a16="http://schemas.microsoft.com/office/drawing/2014/main" id="{1DAE2DD0-9AD1-44E5-9C5E-F03E4F9769ED}"/>
              </a:ext>
            </a:extLst>
          </p:cNvPr>
          <p:cNvSpPr txBox="1"/>
          <p:nvPr/>
        </p:nvSpPr>
        <p:spPr>
          <a:xfrm>
            <a:off x="223730" y="3037735"/>
            <a:ext cx="330741" cy="369332"/>
          </a:xfrm>
          <a:prstGeom prst="rect">
            <a:avLst/>
          </a:prstGeom>
          <a:noFill/>
        </p:spPr>
        <p:txBody>
          <a:bodyPr wrap="square" rtlCol="0">
            <a:spAutoFit/>
          </a:bodyPr>
          <a:lstStyle/>
          <a:p>
            <a:r>
              <a:rPr lang="en-US"/>
              <a:t>5</a:t>
            </a:r>
          </a:p>
        </p:txBody>
      </p:sp>
      <p:sp>
        <p:nvSpPr>
          <p:cNvPr id="35" name="TextBox 34">
            <a:extLst>
              <a:ext uri="{FF2B5EF4-FFF2-40B4-BE49-F238E27FC236}">
                <a16:creationId xmlns:a16="http://schemas.microsoft.com/office/drawing/2014/main" id="{69F8B60E-F2A2-4184-959E-0D2BBB83DB70}"/>
              </a:ext>
            </a:extLst>
          </p:cNvPr>
          <p:cNvSpPr txBox="1"/>
          <p:nvPr/>
        </p:nvSpPr>
        <p:spPr>
          <a:xfrm>
            <a:off x="233459" y="3603788"/>
            <a:ext cx="330741" cy="369332"/>
          </a:xfrm>
          <a:prstGeom prst="rect">
            <a:avLst/>
          </a:prstGeom>
          <a:noFill/>
        </p:spPr>
        <p:txBody>
          <a:bodyPr wrap="square" rtlCol="0">
            <a:spAutoFit/>
          </a:bodyPr>
          <a:lstStyle/>
          <a:p>
            <a:r>
              <a:rPr lang="en-US"/>
              <a:t>6</a:t>
            </a:r>
          </a:p>
        </p:txBody>
      </p:sp>
      <p:sp>
        <p:nvSpPr>
          <p:cNvPr id="36" name="TextBox 35">
            <a:extLst>
              <a:ext uri="{FF2B5EF4-FFF2-40B4-BE49-F238E27FC236}">
                <a16:creationId xmlns:a16="http://schemas.microsoft.com/office/drawing/2014/main" id="{4C9A800F-C377-4EC5-AF5A-C2D1C4A8BAAE}"/>
              </a:ext>
            </a:extLst>
          </p:cNvPr>
          <p:cNvSpPr txBox="1"/>
          <p:nvPr/>
        </p:nvSpPr>
        <p:spPr>
          <a:xfrm>
            <a:off x="223732" y="4181052"/>
            <a:ext cx="330741" cy="369332"/>
          </a:xfrm>
          <a:prstGeom prst="rect">
            <a:avLst/>
          </a:prstGeom>
          <a:noFill/>
        </p:spPr>
        <p:txBody>
          <a:bodyPr wrap="square" rtlCol="0">
            <a:spAutoFit/>
          </a:bodyPr>
          <a:lstStyle/>
          <a:p>
            <a:r>
              <a:rPr lang="en-US"/>
              <a:t>7</a:t>
            </a:r>
          </a:p>
        </p:txBody>
      </p:sp>
      <p:sp>
        <p:nvSpPr>
          <p:cNvPr id="37" name="TextBox 36">
            <a:extLst>
              <a:ext uri="{FF2B5EF4-FFF2-40B4-BE49-F238E27FC236}">
                <a16:creationId xmlns:a16="http://schemas.microsoft.com/office/drawing/2014/main" id="{FDC185F8-FAAC-479E-9293-3ED12A5F07FB}"/>
              </a:ext>
            </a:extLst>
          </p:cNvPr>
          <p:cNvSpPr txBox="1"/>
          <p:nvPr/>
        </p:nvSpPr>
        <p:spPr>
          <a:xfrm>
            <a:off x="233460" y="5306338"/>
            <a:ext cx="330741" cy="369332"/>
          </a:xfrm>
          <a:prstGeom prst="rect">
            <a:avLst/>
          </a:prstGeom>
          <a:noFill/>
        </p:spPr>
        <p:txBody>
          <a:bodyPr wrap="square" rtlCol="0">
            <a:spAutoFit/>
          </a:bodyPr>
          <a:lstStyle/>
          <a:p>
            <a:r>
              <a:rPr lang="en-US"/>
              <a:t>9</a:t>
            </a:r>
          </a:p>
        </p:txBody>
      </p:sp>
      <p:sp>
        <p:nvSpPr>
          <p:cNvPr id="38" name="TextBox 37">
            <a:extLst>
              <a:ext uri="{FF2B5EF4-FFF2-40B4-BE49-F238E27FC236}">
                <a16:creationId xmlns:a16="http://schemas.microsoft.com/office/drawing/2014/main" id="{97067AD0-5197-4C5B-8FFA-5FB8E7C3740A}"/>
              </a:ext>
            </a:extLst>
          </p:cNvPr>
          <p:cNvSpPr txBox="1"/>
          <p:nvPr/>
        </p:nvSpPr>
        <p:spPr>
          <a:xfrm>
            <a:off x="165366" y="5864466"/>
            <a:ext cx="536868" cy="369332"/>
          </a:xfrm>
          <a:prstGeom prst="rect">
            <a:avLst/>
          </a:prstGeom>
          <a:noFill/>
        </p:spPr>
        <p:txBody>
          <a:bodyPr wrap="square" rtlCol="0">
            <a:spAutoFit/>
          </a:bodyPr>
          <a:lstStyle/>
          <a:p>
            <a:r>
              <a:rPr lang="en-US"/>
              <a:t>10</a:t>
            </a:r>
          </a:p>
        </p:txBody>
      </p:sp>
      <p:sp>
        <p:nvSpPr>
          <p:cNvPr id="39" name="TextBox 38">
            <a:extLst>
              <a:ext uri="{FF2B5EF4-FFF2-40B4-BE49-F238E27FC236}">
                <a16:creationId xmlns:a16="http://schemas.microsoft.com/office/drawing/2014/main" id="{57561361-84FD-4DDB-A69B-C35A1908D62F}"/>
              </a:ext>
            </a:extLst>
          </p:cNvPr>
          <p:cNvSpPr txBox="1"/>
          <p:nvPr/>
        </p:nvSpPr>
        <p:spPr>
          <a:xfrm>
            <a:off x="243188" y="4742128"/>
            <a:ext cx="330741" cy="369332"/>
          </a:xfrm>
          <a:prstGeom prst="rect">
            <a:avLst/>
          </a:prstGeom>
          <a:noFill/>
        </p:spPr>
        <p:txBody>
          <a:bodyPr wrap="square" rtlCol="0">
            <a:spAutoFit/>
          </a:bodyPr>
          <a:lstStyle/>
          <a:p>
            <a:r>
              <a:rPr lang="en-US"/>
              <a:t>8</a:t>
            </a:r>
          </a:p>
        </p:txBody>
      </p:sp>
      <p:sp>
        <p:nvSpPr>
          <p:cNvPr id="41" name="TextBox 40">
            <a:extLst>
              <a:ext uri="{FF2B5EF4-FFF2-40B4-BE49-F238E27FC236}">
                <a16:creationId xmlns:a16="http://schemas.microsoft.com/office/drawing/2014/main" id="{2E9C4BCC-3AAA-4626-A7B6-EE82FA8A7F12}"/>
              </a:ext>
            </a:extLst>
          </p:cNvPr>
          <p:cNvSpPr txBox="1"/>
          <p:nvPr/>
        </p:nvSpPr>
        <p:spPr>
          <a:xfrm>
            <a:off x="539222" y="750237"/>
            <a:ext cx="3069740" cy="523220"/>
          </a:xfrm>
          <a:prstGeom prst="rect">
            <a:avLst/>
          </a:prstGeom>
          <a:noFill/>
        </p:spPr>
        <p:txBody>
          <a:bodyPr wrap="square" rtlCol="0">
            <a:spAutoFit/>
          </a:bodyPr>
          <a:lstStyle/>
          <a:p>
            <a:r>
              <a:rPr lang="en-US" sz="1400"/>
              <a:t>Connect to OLE DB Source – Products table in </a:t>
            </a:r>
            <a:r>
              <a:rPr lang="en-US" sz="1400" err="1"/>
              <a:t>SaleAU_NZ</a:t>
            </a:r>
            <a:r>
              <a:rPr lang="en-US" sz="1400"/>
              <a:t> &amp; </a:t>
            </a:r>
            <a:r>
              <a:rPr lang="en-US" sz="1400" err="1"/>
              <a:t>Salemodels</a:t>
            </a:r>
            <a:endParaRPr lang="en-US" sz="1400"/>
          </a:p>
        </p:txBody>
      </p:sp>
      <p:sp>
        <p:nvSpPr>
          <p:cNvPr id="42" name="TextBox 41">
            <a:extLst>
              <a:ext uri="{FF2B5EF4-FFF2-40B4-BE49-F238E27FC236}">
                <a16:creationId xmlns:a16="http://schemas.microsoft.com/office/drawing/2014/main" id="{E1A601B9-FC33-405A-BA32-45E2637D682D}"/>
              </a:ext>
            </a:extLst>
          </p:cNvPr>
          <p:cNvSpPr txBox="1"/>
          <p:nvPr/>
        </p:nvSpPr>
        <p:spPr>
          <a:xfrm>
            <a:off x="436386" y="1497709"/>
            <a:ext cx="3411124" cy="307777"/>
          </a:xfrm>
          <a:prstGeom prst="rect">
            <a:avLst/>
          </a:prstGeom>
          <a:noFill/>
        </p:spPr>
        <p:txBody>
          <a:bodyPr wrap="square" rtlCol="0">
            <a:spAutoFit/>
          </a:bodyPr>
          <a:lstStyle/>
          <a:p>
            <a:r>
              <a:rPr lang="en-US" sz="1400"/>
              <a:t>Lookup </a:t>
            </a:r>
            <a:r>
              <a:rPr lang="en-US" sz="1400" err="1"/>
              <a:t>Productlines</a:t>
            </a:r>
            <a:r>
              <a:rPr lang="en-US" sz="1400"/>
              <a:t> to get text description</a:t>
            </a:r>
          </a:p>
        </p:txBody>
      </p:sp>
      <p:sp>
        <p:nvSpPr>
          <p:cNvPr id="43" name="TextBox 42">
            <a:extLst>
              <a:ext uri="{FF2B5EF4-FFF2-40B4-BE49-F238E27FC236}">
                <a16:creationId xmlns:a16="http://schemas.microsoft.com/office/drawing/2014/main" id="{1C764E65-654B-493B-8E09-CCAA008F6C11}"/>
              </a:ext>
            </a:extLst>
          </p:cNvPr>
          <p:cNvSpPr txBox="1"/>
          <p:nvPr/>
        </p:nvSpPr>
        <p:spPr>
          <a:xfrm>
            <a:off x="498913" y="2039656"/>
            <a:ext cx="3276343" cy="307777"/>
          </a:xfrm>
          <a:prstGeom prst="rect">
            <a:avLst/>
          </a:prstGeom>
          <a:noFill/>
        </p:spPr>
        <p:txBody>
          <a:bodyPr wrap="square" rtlCol="0">
            <a:spAutoFit/>
          </a:bodyPr>
          <a:lstStyle/>
          <a:p>
            <a:r>
              <a:rPr lang="en-US" sz="1400"/>
              <a:t>Union All from </a:t>
            </a:r>
            <a:r>
              <a:rPr lang="en-US" sz="1400" err="1"/>
              <a:t>Salemodels</a:t>
            </a:r>
            <a:r>
              <a:rPr lang="en-US" sz="1400"/>
              <a:t> &amp; </a:t>
            </a:r>
            <a:r>
              <a:rPr lang="en-US" sz="1400" err="1"/>
              <a:t>SaleAU_NZ</a:t>
            </a:r>
            <a:endParaRPr lang="en-US" sz="1400"/>
          </a:p>
        </p:txBody>
      </p:sp>
      <p:sp>
        <p:nvSpPr>
          <p:cNvPr id="44" name="TextBox 43">
            <a:extLst>
              <a:ext uri="{FF2B5EF4-FFF2-40B4-BE49-F238E27FC236}">
                <a16:creationId xmlns:a16="http://schemas.microsoft.com/office/drawing/2014/main" id="{1016684A-0648-4D07-9793-D7FE57A459F7}"/>
              </a:ext>
            </a:extLst>
          </p:cNvPr>
          <p:cNvSpPr txBox="1"/>
          <p:nvPr/>
        </p:nvSpPr>
        <p:spPr>
          <a:xfrm>
            <a:off x="570689" y="2492509"/>
            <a:ext cx="2961376" cy="523220"/>
          </a:xfrm>
          <a:prstGeom prst="rect">
            <a:avLst/>
          </a:prstGeom>
          <a:noFill/>
        </p:spPr>
        <p:txBody>
          <a:bodyPr wrap="square" rtlCol="0">
            <a:spAutoFit/>
          </a:bodyPr>
          <a:lstStyle/>
          <a:p>
            <a:r>
              <a:rPr lang="en-US" sz="1400"/>
              <a:t>Remove Error Records – i.e. of </a:t>
            </a:r>
            <a:r>
              <a:rPr lang="en-US" sz="1400" err="1"/>
              <a:t>buyPrice</a:t>
            </a:r>
            <a:r>
              <a:rPr lang="en-US" sz="1400"/>
              <a:t> = 0 or MSRP &lt; </a:t>
            </a:r>
            <a:r>
              <a:rPr lang="en-US" sz="1400" err="1"/>
              <a:t>buyPrice</a:t>
            </a:r>
            <a:endParaRPr lang="en-US" sz="1400"/>
          </a:p>
        </p:txBody>
      </p:sp>
      <p:sp>
        <p:nvSpPr>
          <p:cNvPr id="45" name="TextBox 44">
            <a:extLst>
              <a:ext uri="{FF2B5EF4-FFF2-40B4-BE49-F238E27FC236}">
                <a16:creationId xmlns:a16="http://schemas.microsoft.com/office/drawing/2014/main" id="{992C91CE-AD13-4619-81BD-839EA19BB79C}"/>
              </a:ext>
            </a:extLst>
          </p:cNvPr>
          <p:cNvSpPr txBox="1"/>
          <p:nvPr/>
        </p:nvSpPr>
        <p:spPr>
          <a:xfrm>
            <a:off x="570689" y="3192695"/>
            <a:ext cx="2961376" cy="307777"/>
          </a:xfrm>
          <a:prstGeom prst="rect">
            <a:avLst/>
          </a:prstGeom>
          <a:noFill/>
        </p:spPr>
        <p:txBody>
          <a:bodyPr wrap="square" rtlCol="0">
            <a:spAutoFit/>
          </a:bodyPr>
          <a:lstStyle/>
          <a:p>
            <a:r>
              <a:rPr lang="en-US" sz="1400"/>
              <a:t>Sort the new dataset</a:t>
            </a:r>
          </a:p>
        </p:txBody>
      </p:sp>
      <p:sp>
        <p:nvSpPr>
          <p:cNvPr id="46" name="TextBox 45">
            <a:extLst>
              <a:ext uri="{FF2B5EF4-FFF2-40B4-BE49-F238E27FC236}">
                <a16:creationId xmlns:a16="http://schemas.microsoft.com/office/drawing/2014/main" id="{25DC804A-04EA-48DF-ABE8-366EF4F57E1F}"/>
              </a:ext>
            </a:extLst>
          </p:cNvPr>
          <p:cNvSpPr txBox="1"/>
          <p:nvPr/>
        </p:nvSpPr>
        <p:spPr>
          <a:xfrm>
            <a:off x="577166" y="3763552"/>
            <a:ext cx="2961376" cy="307777"/>
          </a:xfrm>
          <a:prstGeom prst="rect">
            <a:avLst/>
          </a:prstGeom>
          <a:noFill/>
        </p:spPr>
        <p:txBody>
          <a:bodyPr wrap="square" rtlCol="0">
            <a:spAutoFit/>
          </a:bodyPr>
          <a:lstStyle/>
          <a:p>
            <a:r>
              <a:rPr lang="en-US" sz="1400"/>
              <a:t>Parse few columns</a:t>
            </a:r>
          </a:p>
        </p:txBody>
      </p:sp>
      <p:sp>
        <p:nvSpPr>
          <p:cNvPr id="47" name="TextBox 46">
            <a:extLst>
              <a:ext uri="{FF2B5EF4-FFF2-40B4-BE49-F238E27FC236}">
                <a16:creationId xmlns:a16="http://schemas.microsoft.com/office/drawing/2014/main" id="{4FBD56DC-81A9-4589-8BB0-30A8A42538F4}"/>
              </a:ext>
            </a:extLst>
          </p:cNvPr>
          <p:cNvSpPr txBox="1"/>
          <p:nvPr/>
        </p:nvSpPr>
        <p:spPr>
          <a:xfrm>
            <a:off x="567438" y="4209178"/>
            <a:ext cx="2961376" cy="523220"/>
          </a:xfrm>
          <a:prstGeom prst="rect">
            <a:avLst/>
          </a:prstGeom>
          <a:noFill/>
        </p:spPr>
        <p:txBody>
          <a:bodyPr wrap="square" rtlCol="0">
            <a:spAutoFit/>
          </a:bodyPr>
          <a:lstStyle/>
          <a:p>
            <a:r>
              <a:rPr lang="en-US" sz="1400"/>
              <a:t>Merge with Dim Product to remove duplicates</a:t>
            </a:r>
          </a:p>
        </p:txBody>
      </p:sp>
      <p:sp>
        <p:nvSpPr>
          <p:cNvPr id="48" name="TextBox 47">
            <a:extLst>
              <a:ext uri="{FF2B5EF4-FFF2-40B4-BE49-F238E27FC236}">
                <a16:creationId xmlns:a16="http://schemas.microsoft.com/office/drawing/2014/main" id="{DCA3BFE7-AFA2-47E1-B859-663A4762A67B}"/>
              </a:ext>
            </a:extLst>
          </p:cNvPr>
          <p:cNvSpPr txBox="1"/>
          <p:nvPr/>
        </p:nvSpPr>
        <p:spPr>
          <a:xfrm>
            <a:off x="605893" y="4900637"/>
            <a:ext cx="2961376" cy="307777"/>
          </a:xfrm>
          <a:prstGeom prst="rect">
            <a:avLst/>
          </a:prstGeom>
          <a:noFill/>
        </p:spPr>
        <p:txBody>
          <a:bodyPr wrap="square" rtlCol="0">
            <a:spAutoFit/>
          </a:bodyPr>
          <a:lstStyle/>
          <a:p>
            <a:r>
              <a:rPr lang="en-US" sz="1400"/>
              <a:t>Split between Insert &amp; Update</a:t>
            </a:r>
          </a:p>
        </p:txBody>
      </p:sp>
      <p:sp>
        <p:nvSpPr>
          <p:cNvPr id="49" name="TextBox 48">
            <a:extLst>
              <a:ext uri="{FF2B5EF4-FFF2-40B4-BE49-F238E27FC236}">
                <a16:creationId xmlns:a16="http://schemas.microsoft.com/office/drawing/2014/main" id="{7438F56B-AF79-46B7-9CCE-194FD8F80A4D}"/>
              </a:ext>
            </a:extLst>
          </p:cNvPr>
          <p:cNvSpPr txBox="1"/>
          <p:nvPr/>
        </p:nvSpPr>
        <p:spPr>
          <a:xfrm>
            <a:off x="564199" y="5451485"/>
            <a:ext cx="2961376" cy="307777"/>
          </a:xfrm>
          <a:prstGeom prst="rect">
            <a:avLst/>
          </a:prstGeom>
          <a:noFill/>
        </p:spPr>
        <p:txBody>
          <a:bodyPr wrap="square" rtlCol="0">
            <a:spAutoFit/>
          </a:bodyPr>
          <a:lstStyle/>
          <a:p>
            <a:r>
              <a:rPr lang="en-US" sz="1400"/>
              <a:t>Insert using OLE DB Destination</a:t>
            </a:r>
          </a:p>
        </p:txBody>
      </p:sp>
      <p:sp>
        <p:nvSpPr>
          <p:cNvPr id="50" name="TextBox 49">
            <a:extLst>
              <a:ext uri="{FF2B5EF4-FFF2-40B4-BE49-F238E27FC236}">
                <a16:creationId xmlns:a16="http://schemas.microsoft.com/office/drawing/2014/main" id="{0FA660DD-217C-49D3-8CE0-3075ACE121F8}"/>
              </a:ext>
            </a:extLst>
          </p:cNvPr>
          <p:cNvSpPr txBox="1"/>
          <p:nvPr/>
        </p:nvSpPr>
        <p:spPr>
          <a:xfrm>
            <a:off x="577166" y="6022765"/>
            <a:ext cx="2961376" cy="307777"/>
          </a:xfrm>
          <a:prstGeom prst="rect">
            <a:avLst/>
          </a:prstGeom>
          <a:noFill/>
        </p:spPr>
        <p:txBody>
          <a:bodyPr wrap="square" rtlCol="0">
            <a:spAutoFit/>
          </a:bodyPr>
          <a:lstStyle/>
          <a:p>
            <a:r>
              <a:rPr lang="en-US" sz="1400"/>
              <a:t>Update using OLE DB Command</a:t>
            </a:r>
          </a:p>
        </p:txBody>
      </p:sp>
      <p:grpSp>
        <p:nvGrpSpPr>
          <p:cNvPr id="62" name="Group 61">
            <a:extLst>
              <a:ext uri="{FF2B5EF4-FFF2-40B4-BE49-F238E27FC236}">
                <a16:creationId xmlns:a16="http://schemas.microsoft.com/office/drawing/2014/main" id="{9E8CE01B-A013-4309-9F01-17F58301616F}"/>
              </a:ext>
            </a:extLst>
          </p:cNvPr>
          <p:cNvGrpSpPr/>
          <p:nvPr/>
        </p:nvGrpSpPr>
        <p:grpSpPr>
          <a:xfrm>
            <a:off x="5489641" y="741956"/>
            <a:ext cx="273450" cy="286981"/>
            <a:chOff x="220492" y="773633"/>
            <a:chExt cx="330742" cy="362846"/>
          </a:xfrm>
        </p:grpSpPr>
        <p:sp>
          <p:nvSpPr>
            <p:cNvPr id="63" name="Oval 62">
              <a:extLst>
                <a:ext uri="{FF2B5EF4-FFF2-40B4-BE49-F238E27FC236}">
                  <a16:creationId xmlns:a16="http://schemas.microsoft.com/office/drawing/2014/main" id="{48EA1F08-1356-4803-81CB-1A4217090C7B}"/>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TextBox 63">
              <a:extLst>
                <a:ext uri="{FF2B5EF4-FFF2-40B4-BE49-F238E27FC236}">
                  <a16:creationId xmlns:a16="http://schemas.microsoft.com/office/drawing/2014/main" id="{1F882A97-715F-48AF-B728-52B5041DA536}"/>
                </a:ext>
              </a:extLst>
            </p:cNvPr>
            <p:cNvSpPr txBox="1"/>
            <p:nvPr/>
          </p:nvSpPr>
          <p:spPr>
            <a:xfrm>
              <a:off x="220492" y="773633"/>
              <a:ext cx="330741" cy="336255"/>
            </a:xfrm>
            <a:prstGeom prst="rect">
              <a:avLst/>
            </a:prstGeom>
            <a:noFill/>
          </p:spPr>
          <p:txBody>
            <a:bodyPr wrap="square" rtlCol="0">
              <a:spAutoFit/>
            </a:bodyPr>
            <a:lstStyle/>
            <a:p>
              <a:r>
                <a:rPr lang="en-US" sz="1200"/>
                <a:t>1</a:t>
              </a:r>
            </a:p>
          </p:txBody>
        </p:sp>
      </p:grpSp>
      <p:grpSp>
        <p:nvGrpSpPr>
          <p:cNvPr id="65" name="Group 64">
            <a:extLst>
              <a:ext uri="{FF2B5EF4-FFF2-40B4-BE49-F238E27FC236}">
                <a16:creationId xmlns:a16="http://schemas.microsoft.com/office/drawing/2014/main" id="{003FFA4F-D009-4DA9-B1C5-C8775CE79EEF}"/>
              </a:ext>
            </a:extLst>
          </p:cNvPr>
          <p:cNvGrpSpPr/>
          <p:nvPr/>
        </p:nvGrpSpPr>
        <p:grpSpPr>
          <a:xfrm>
            <a:off x="8180960" y="768995"/>
            <a:ext cx="273450" cy="286981"/>
            <a:chOff x="220492" y="773633"/>
            <a:chExt cx="330742" cy="362846"/>
          </a:xfrm>
        </p:grpSpPr>
        <p:sp>
          <p:nvSpPr>
            <p:cNvPr id="66" name="Oval 65">
              <a:extLst>
                <a:ext uri="{FF2B5EF4-FFF2-40B4-BE49-F238E27FC236}">
                  <a16:creationId xmlns:a16="http://schemas.microsoft.com/office/drawing/2014/main" id="{AE053930-1C14-43D7-95A6-C3012CA88D14}"/>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7" name="TextBox 66">
              <a:extLst>
                <a:ext uri="{FF2B5EF4-FFF2-40B4-BE49-F238E27FC236}">
                  <a16:creationId xmlns:a16="http://schemas.microsoft.com/office/drawing/2014/main" id="{CD8DB333-260E-4958-943E-3787F722D53E}"/>
                </a:ext>
              </a:extLst>
            </p:cNvPr>
            <p:cNvSpPr txBox="1"/>
            <p:nvPr/>
          </p:nvSpPr>
          <p:spPr>
            <a:xfrm>
              <a:off x="220492" y="773633"/>
              <a:ext cx="330741" cy="336255"/>
            </a:xfrm>
            <a:prstGeom prst="rect">
              <a:avLst/>
            </a:prstGeom>
            <a:noFill/>
          </p:spPr>
          <p:txBody>
            <a:bodyPr wrap="square" rtlCol="0">
              <a:spAutoFit/>
            </a:bodyPr>
            <a:lstStyle/>
            <a:p>
              <a:r>
                <a:rPr lang="en-US" sz="1200"/>
                <a:t>1</a:t>
              </a:r>
            </a:p>
          </p:txBody>
        </p:sp>
      </p:grpSp>
      <p:grpSp>
        <p:nvGrpSpPr>
          <p:cNvPr id="68" name="Group 67">
            <a:extLst>
              <a:ext uri="{FF2B5EF4-FFF2-40B4-BE49-F238E27FC236}">
                <a16:creationId xmlns:a16="http://schemas.microsoft.com/office/drawing/2014/main" id="{E06C53B7-FCC1-4C70-9578-D2A0111D873F}"/>
              </a:ext>
            </a:extLst>
          </p:cNvPr>
          <p:cNvGrpSpPr/>
          <p:nvPr/>
        </p:nvGrpSpPr>
        <p:grpSpPr>
          <a:xfrm>
            <a:off x="5510013" y="1403944"/>
            <a:ext cx="273450" cy="286981"/>
            <a:chOff x="220492" y="773633"/>
            <a:chExt cx="330742" cy="362846"/>
          </a:xfrm>
        </p:grpSpPr>
        <p:sp>
          <p:nvSpPr>
            <p:cNvPr id="69" name="Oval 68">
              <a:extLst>
                <a:ext uri="{FF2B5EF4-FFF2-40B4-BE49-F238E27FC236}">
                  <a16:creationId xmlns:a16="http://schemas.microsoft.com/office/drawing/2014/main" id="{9BB2BF80-2F78-49BA-BA63-C69C13066476}"/>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0" name="TextBox 69">
              <a:extLst>
                <a:ext uri="{FF2B5EF4-FFF2-40B4-BE49-F238E27FC236}">
                  <a16:creationId xmlns:a16="http://schemas.microsoft.com/office/drawing/2014/main" id="{1DE8B904-3109-4D85-803E-E7D4540CB02F}"/>
                </a:ext>
              </a:extLst>
            </p:cNvPr>
            <p:cNvSpPr txBox="1"/>
            <p:nvPr/>
          </p:nvSpPr>
          <p:spPr>
            <a:xfrm>
              <a:off x="220492" y="773633"/>
              <a:ext cx="330741" cy="336255"/>
            </a:xfrm>
            <a:prstGeom prst="rect">
              <a:avLst/>
            </a:prstGeom>
            <a:noFill/>
          </p:spPr>
          <p:txBody>
            <a:bodyPr wrap="square" rtlCol="0">
              <a:spAutoFit/>
            </a:bodyPr>
            <a:lstStyle/>
            <a:p>
              <a:r>
                <a:rPr lang="en-US" sz="1200"/>
                <a:t>2</a:t>
              </a:r>
            </a:p>
          </p:txBody>
        </p:sp>
      </p:grpSp>
      <p:grpSp>
        <p:nvGrpSpPr>
          <p:cNvPr id="83" name="Group 82">
            <a:extLst>
              <a:ext uri="{FF2B5EF4-FFF2-40B4-BE49-F238E27FC236}">
                <a16:creationId xmlns:a16="http://schemas.microsoft.com/office/drawing/2014/main" id="{E4EF6160-D698-4907-8607-20C50A03F0CF}"/>
              </a:ext>
            </a:extLst>
          </p:cNvPr>
          <p:cNvGrpSpPr/>
          <p:nvPr/>
        </p:nvGrpSpPr>
        <p:grpSpPr>
          <a:xfrm>
            <a:off x="9301474" y="5577485"/>
            <a:ext cx="273450" cy="286981"/>
            <a:chOff x="220492" y="773633"/>
            <a:chExt cx="330742" cy="362846"/>
          </a:xfrm>
        </p:grpSpPr>
        <p:sp>
          <p:nvSpPr>
            <p:cNvPr id="84" name="Oval 83">
              <a:extLst>
                <a:ext uri="{FF2B5EF4-FFF2-40B4-BE49-F238E27FC236}">
                  <a16:creationId xmlns:a16="http://schemas.microsoft.com/office/drawing/2014/main" id="{C1873D9C-5F91-4C14-A5DA-9D0B3D54DE28}"/>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5" name="TextBox 84">
              <a:extLst>
                <a:ext uri="{FF2B5EF4-FFF2-40B4-BE49-F238E27FC236}">
                  <a16:creationId xmlns:a16="http://schemas.microsoft.com/office/drawing/2014/main" id="{972E5126-B8F7-4BA7-BA6A-46455785B110}"/>
                </a:ext>
              </a:extLst>
            </p:cNvPr>
            <p:cNvSpPr txBox="1"/>
            <p:nvPr/>
          </p:nvSpPr>
          <p:spPr>
            <a:xfrm>
              <a:off x="220492" y="773633"/>
              <a:ext cx="330741" cy="336255"/>
            </a:xfrm>
            <a:prstGeom prst="rect">
              <a:avLst/>
            </a:prstGeom>
            <a:noFill/>
          </p:spPr>
          <p:txBody>
            <a:bodyPr wrap="square" rtlCol="0">
              <a:spAutoFit/>
            </a:bodyPr>
            <a:lstStyle/>
            <a:p>
              <a:r>
                <a:rPr lang="en-US" sz="1200"/>
                <a:t>9</a:t>
              </a:r>
            </a:p>
          </p:txBody>
        </p:sp>
      </p:grpSp>
      <p:grpSp>
        <p:nvGrpSpPr>
          <p:cNvPr id="89" name="Group 88">
            <a:extLst>
              <a:ext uri="{FF2B5EF4-FFF2-40B4-BE49-F238E27FC236}">
                <a16:creationId xmlns:a16="http://schemas.microsoft.com/office/drawing/2014/main" id="{F0FE0B7E-4924-4E47-8E4F-001D9C114D80}"/>
              </a:ext>
            </a:extLst>
          </p:cNvPr>
          <p:cNvGrpSpPr/>
          <p:nvPr/>
        </p:nvGrpSpPr>
        <p:grpSpPr>
          <a:xfrm>
            <a:off x="8330117" y="2430528"/>
            <a:ext cx="273450" cy="286981"/>
            <a:chOff x="220492" y="773633"/>
            <a:chExt cx="330742" cy="362846"/>
          </a:xfrm>
        </p:grpSpPr>
        <p:sp>
          <p:nvSpPr>
            <p:cNvPr id="90" name="Oval 89">
              <a:extLst>
                <a:ext uri="{FF2B5EF4-FFF2-40B4-BE49-F238E27FC236}">
                  <a16:creationId xmlns:a16="http://schemas.microsoft.com/office/drawing/2014/main" id="{A4B3CA74-831A-48D8-BA09-F0110AEBA648}"/>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1" name="TextBox 90">
              <a:extLst>
                <a:ext uri="{FF2B5EF4-FFF2-40B4-BE49-F238E27FC236}">
                  <a16:creationId xmlns:a16="http://schemas.microsoft.com/office/drawing/2014/main" id="{D38165D8-27A3-410B-8EBA-FC1C7C660344}"/>
                </a:ext>
              </a:extLst>
            </p:cNvPr>
            <p:cNvSpPr txBox="1"/>
            <p:nvPr/>
          </p:nvSpPr>
          <p:spPr>
            <a:xfrm>
              <a:off x="220492" y="773633"/>
              <a:ext cx="330741" cy="336255"/>
            </a:xfrm>
            <a:prstGeom prst="rect">
              <a:avLst/>
            </a:prstGeom>
            <a:noFill/>
          </p:spPr>
          <p:txBody>
            <a:bodyPr wrap="square" rtlCol="0">
              <a:spAutoFit/>
            </a:bodyPr>
            <a:lstStyle/>
            <a:p>
              <a:r>
                <a:rPr lang="en-US" sz="1200"/>
                <a:t>4</a:t>
              </a:r>
            </a:p>
          </p:txBody>
        </p:sp>
      </p:grpSp>
      <p:grpSp>
        <p:nvGrpSpPr>
          <p:cNvPr id="95" name="Group 94">
            <a:extLst>
              <a:ext uri="{FF2B5EF4-FFF2-40B4-BE49-F238E27FC236}">
                <a16:creationId xmlns:a16="http://schemas.microsoft.com/office/drawing/2014/main" id="{E3FF4802-FC78-4553-8508-1A58EE574F43}"/>
              </a:ext>
            </a:extLst>
          </p:cNvPr>
          <p:cNvGrpSpPr/>
          <p:nvPr/>
        </p:nvGrpSpPr>
        <p:grpSpPr>
          <a:xfrm>
            <a:off x="6799150" y="1910003"/>
            <a:ext cx="273450" cy="286981"/>
            <a:chOff x="220492" y="773633"/>
            <a:chExt cx="330742" cy="362846"/>
          </a:xfrm>
        </p:grpSpPr>
        <p:sp>
          <p:nvSpPr>
            <p:cNvPr id="96" name="Oval 95">
              <a:extLst>
                <a:ext uri="{FF2B5EF4-FFF2-40B4-BE49-F238E27FC236}">
                  <a16:creationId xmlns:a16="http://schemas.microsoft.com/office/drawing/2014/main" id="{1FBE4501-827B-44B4-BD49-3E6A77197F69}"/>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7" name="TextBox 96">
              <a:extLst>
                <a:ext uri="{FF2B5EF4-FFF2-40B4-BE49-F238E27FC236}">
                  <a16:creationId xmlns:a16="http://schemas.microsoft.com/office/drawing/2014/main" id="{DCCF7AA7-97F6-4A12-B43E-54FD005A0D61}"/>
                </a:ext>
              </a:extLst>
            </p:cNvPr>
            <p:cNvSpPr txBox="1"/>
            <p:nvPr/>
          </p:nvSpPr>
          <p:spPr>
            <a:xfrm>
              <a:off x="220492" y="773633"/>
              <a:ext cx="330741" cy="336255"/>
            </a:xfrm>
            <a:prstGeom prst="rect">
              <a:avLst/>
            </a:prstGeom>
            <a:noFill/>
          </p:spPr>
          <p:txBody>
            <a:bodyPr wrap="square" rtlCol="0">
              <a:spAutoFit/>
            </a:bodyPr>
            <a:lstStyle/>
            <a:p>
              <a:r>
                <a:rPr lang="en-US" sz="1200"/>
                <a:t>3</a:t>
              </a:r>
            </a:p>
          </p:txBody>
        </p:sp>
      </p:grpSp>
      <p:grpSp>
        <p:nvGrpSpPr>
          <p:cNvPr id="98" name="Group 97">
            <a:extLst>
              <a:ext uri="{FF2B5EF4-FFF2-40B4-BE49-F238E27FC236}">
                <a16:creationId xmlns:a16="http://schemas.microsoft.com/office/drawing/2014/main" id="{C3F00601-CE60-4102-B239-5EADEFFAAE7F}"/>
              </a:ext>
            </a:extLst>
          </p:cNvPr>
          <p:cNvGrpSpPr/>
          <p:nvPr/>
        </p:nvGrpSpPr>
        <p:grpSpPr>
          <a:xfrm>
            <a:off x="4418890" y="2421656"/>
            <a:ext cx="298316" cy="295500"/>
            <a:chOff x="220492" y="773633"/>
            <a:chExt cx="330742" cy="373617"/>
          </a:xfrm>
        </p:grpSpPr>
        <p:sp>
          <p:nvSpPr>
            <p:cNvPr id="99" name="Oval 98">
              <a:extLst>
                <a:ext uri="{FF2B5EF4-FFF2-40B4-BE49-F238E27FC236}">
                  <a16:creationId xmlns:a16="http://schemas.microsoft.com/office/drawing/2014/main" id="{B3286555-8710-4D4E-8856-F88A8530C263}"/>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0" name="TextBox 99">
              <a:extLst>
                <a:ext uri="{FF2B5EF4-FFF2-40B4-BE49-F238E27FC236}">
                  <a16:creationId xmlns:a16="http://schemas.microsoft.com/office/drawing/2014/main" id="{C4277D0D-7818-4832-9F2D-4F77856D4BAC}"/>
                </a:ext>
              </a:extLst>
            </p:cNvPr>
            <p:cNvSpPr txBox="1"/>
            <p:nvPr/>
          </p:nvSpPr>
          <p:spPr>
            <a:xfrm>
              <a:off x="220492" y="773633"/>
              <a:ext cx="330741" cy="373617"/>
            </a:xfrm>
            <a:prstGeom prst="rect">
              <a:avLst/>
            </a:prstGeom>
            <a:noFill/>
          </p:spPr>
          <p:txBody>
            <a:bodyPr wrap="square" rtlCol="0">
              <a:spAutoFit/>
            </a:bodyPr>
            <a:lstStyle/>
            <a:p>
              <a:r>
                <a:rPr lang="en-US" sz="1400"/>
                <a:t>5</a:t>
              </a:r>
            </a:p>
          </p:txBody>
        </p:sp>
      </p:grpSp>
      <p:grpSp>
        <p:nvGrpSpPr>
          <p:cNvPr id="101" name="Group 100">
            <a:extLst>
              <a:ext uri="{FF2B5EF4-FFF2-40B4-BE49-F238E27FC236}">
                <a16:creationId xmlns:a16="http://schemas.microsoft.com/office/drawing/2014/main" id="{4DE3216F-1E1B-49E1-9D57-98EAB3939635}"/>
              </a:ext>
            </a:extLst>
          </p:cNvPr>
          <p:cNvGrpSpPr/>
          <p:nvPr/>
        </p:nvGrpSpPr>
        <p:grpSpPr>
          <a:xfrm>
            <a:off x="5840045" y="3523125"/>
            <a:ext cx="273450" cy="286981"/>
            <a:chOff x="220492" y="773633"/>
            <a:chExt cx="330742" cy="362846"/>
          </a:xfrm>
        </p:grpSpPr>
        <p:sp>
          <p:nvSpPr>
            <p:cNvPr id="102" name="Oval 101">
              <a:extLst>
                <a:ext uri="{FF2B5EF4-FFF2-40B4-BE49-F238E27FC236}">
                  <a16:creationId xmlns:a16="http://schemas.microsoft.com/office/drawing/2014/main" id="{F79CC727-9BAD-484C-B3C5-56A885823DF0}"/>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3" name="TextBox 102">
              <a:extLst>
                <a:ext uri="{FF2B5EF4-FFF2-40B4-BE49-F238E27FC236}">
                  <a16:creationId xmlns:a16="http://schemas.microsoft.com/office/drawing/2014/main" id="{D3CFF813-9C5D-4078-850D-0FB180BC84B6}"/>
                </a:ext>
              </a:extLst>
            </p:cNvPr>
            <p:cNvSpPr txBox="1"/>
            <p:nvPr/>
          </p:nvSpPr>
          <p:spPr>
            <a:xfrm>
              <a:off x="220492" y="773633"/>
              <a:ext cx="330741" cy="336255"/>
            </a:xfrm>
            <a:prstGeom prst="rect">
              <a:avLst/>
            </a:prstGeom>
            <a:noFill/>
          </p:spPr>
          <p:txBody>
            <a:bodyPr wrap="square" rtlCol="0">
              <a:spAutoFit/>
            </a:bodyPr>
            <a:lstStyle/>
            <a:p>
              <a:r>
                <a:rPr lang="en-US" sz="1200"/>
                <a:t>6</a:t>
              </a:r>
            </a:p>
          </p:txBody>
        </p:sp>
      </p:grpSp>
      <p:grpSp>
        <p:nvGrpSpPr>
          <p:cNvPr id="104" name="Group 103">
            <a:extLst>
              <a:ext uri="{FF2B5EF4-FFF2-40B4-BE49-F238E27FC236}">
                <a16:creationId xmlns:a16="http://schemas.microsoft.com/office/drawing/2014/main" id="{5EE96ECA-FB9F-4ABC-8F32-4F0B429216E2}"/>
              </a:ext>
            </a:extLst>
          </p:cNvPr>
          <p:cNvGrpSpPr/>
          <p:nvPr/>
        </p:nvGrpSpPr>
        <p:grpSpPr>
          <a:xfrm>
            <a:off x="7791611" y="3822029"/>
            <a:ext cx="273450" cy="286981"/>
            <a:chOff x="220492" y="773633"/>
            <a:chExt cx="330742" cy="362846"/>
          </a:xfrm>
        </p:grpSpPr>
        <p:sp>
          <p:nvSpPr>
            <p:cNvPr id="105" name="Oval 104">
              <a:extLst>
                <a:ext uri="{FF2B5EF4-FFF2-40B4-BE49-F238E27FC236}">
                  <a16:creationId xmlns:a16="http://schemas.microsoft.com/office/drawing/2014/main" id="{E7759BF8-573A-4C55-9E0E-3A75094B7A52}"/>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6" name="TextBox 105">
              <a:extLst>
                <a:ext uri="{FF2B5EF4-FFF2-40B4-BE49-F238E27FC236}">
                  <a16:creationId xmlns:a16="http://schemas.microsoft.com/office/drawing/2014/main" id="{179FC37E-E226-4E95-B2F3-F52FA134D14D}"/>
                </a:ext>
              </a:extLst>
            </p:cNvPr>
            <p:cNvSpPr txBox="1"/>
            <p:nvPr/>
          </p:nvSpPr>
          <p:spPr>
            <a:xfrm>
              <a:off x="220492" y="773633"/>
              <a:ext cx="330741" cy="336255"/>
            </a:xfrm>
            <a:prstGeom prst="rect">
              <a:avLst/>
            </a:prstGeom>
            <a:noFill/>
          </p:spPr>
          <p:txBody>
            <a:bodyPr wrap="square" rtlCol="0">
              <a:spAutoFit/>
            </a:bodyPr>
            <a:lstStyle/>
            <a:p>
              <a:r>
                <a:rPr lang="en-US" sz="1200"/>
                <a:t>7</a:t>
              </a:r>
            </a:p>
          </p:txBody>
        </p:sp>
      </p:grpSp>
      <p:grpSp>
        <p:nvGrpSpPr>
          <p:cNvPr id="107" name="Group 106">
            <a:extLst>
              <a:ext uri="{FF2B5EF4-FFF2-40B4-BE49-F238E27FC236}">
                <a16:creationId xmlns:a16="http://schemas.microsoft.com/office/drawing/2014/main" id="{1AA6ED6E-C275-49C7-A5B2-FCAA105C2A8A}"/>
              </a:ext>
            </a:extLst>
          </p:cNvPr>
          <p:cNvGrpSpPr/>
          <p:nvPr/>
        </p:nvGrpSpPr>
        <p:grpSpPr>
          <a:xfrm>
            <a:off x="7947009" y="4462667"/>
            <a:ext cx="273450" cy="286981"/>
            <a:chOff x="220492" y="773633"/>
            <a:chExt cx="330742" cy="362846"/>
          </a:xfrm>
        </p:grpSpPr>
        <p:sp>
          <p:nvSpPr>
            <p:cNvPr id="108" name="Oval 107">
              <a:extLst>
                <a:ext uri="{FF2B5EF4-FFF2-40B4-BE49-F238E27FC236}">
                  <a16:creationId xmlns:a16="http://schemas.microsoft.com/office/drawing/2014/main" id="{1F2D6AA5-27A6-4B47-9E78-66450D64DC42}"/>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9" name="TextBox 108">
              <a:extLst>
                <a:ext uri="{FF2B5EF4-FFF2-40B4-BE49-F238E27FC236}">
                  <a16:creationId xmlns:a16="http://schemas.microsoft.com/office/drawing/2014/main" id="{2D7269C6-ABB4-474C-8E90-E0D0374CE4EF}"/>
                </a:ext>
              </a:extLst>
            </p:cNvPr>
            <p:cNvSpPr txBox="1"/>
            <p:nvPr/>
          </p:nvSpPr>
          <p:spPr>
            <a:xfrm>
              <a:off x="220492" y="773633"/>
              <a:ext cx="330741" cy="336255"/>
            </a:xfrm>
            <a:prstGeom prst="rect">
              <a:avLst/>
            </a:prstGeom>
            <a:noFill/>
          </p:spPr>
          <p:txBody>
            <a:bodyPr wrap="square" rtlCol="0">
              <a:spAutoFit/>
            </a:bodyPr>
            <a:lstStyle/>
            <a:p>
              <a:r>
                <a:rPr lang="en-US" sz="1200"/>
                <a:t>8</a:t>
              </a:r>
            </a:p>
          </p:txBody>
        </p:sp>
      </p:grpSp>
      <p:grpSp>
        <p:nvGrpSpPr>
          <p:cNvPr id="119" name="Group 118">
            <a:extLst>
              <a:ext uri="{FF2B5EF4-FFF2-40B4-BE49-F238E27FC236}">
                <a16:creationId xmlns:a16="http://schemas.microsoft.com/office/drawing/2014/main" id="{3591C242-2569-47A0-9BAB-0E7465165CB3}"/>
              </a:ext>
            </a:extLst>
          </p:cNvPr>
          <p:cNvGrpSpPr/>
          <p:nvPr/>
        </p:nvGrpSpPr>
        <p:grpSpPr>
          <a:xfrm>
            <a:off x="6726889" y="5532365"/>
            <a:ext cx="444161" cy="276820"/>
            <a:chOff x="191733" y="786480"/>
            <a:chExt cx="537220" cy="349999"/>
          </a:xfrm>
        </p:grpSpPr>
        <p:sp>
          <p:nvSpPr>
            <p:cNvPr id="120" name="Oval 119">
              <a:extLst>
                <a:ext uri="{FF2B5EF4-FFF2-40B4-BE49-F238E27FC236}">
                  <a16:creationId xmlns:a16="http://schemas.microsoft.com/office/drawing/2014/main" id="{53295F82-7316-4E83-8768-7368137D0E07}"/>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1" name="TextBox 120">
              <a:extLst>
                <a:ext uri="{FF2B5EF4-FFF2-40B4-BE49-F238E27FC236}">
                  <a16:creationId xmlns:a16="http://schemas.microsoft.com/office/drawing/2014/main" id="{06551F57-1B40-4083-9B59-C5F8518B0C18}"/>
                </a:ext>
              </a:extLst>
            </p:cNvPr>
            <p:cNvSpPr txBox="1"/>
            <p:nvPr/>
          </p:nvSpPr>
          <p:spPr>
            <a:xfrm>
              <a:off x="191733" y="786480"/>
              <a:ext cx="537220" cy="336255"/>
            </a:xfrm>
            <a:prstGeom prst="rect">
              <a:avLst/>
            </a:prstGeom>
            <a:noFill/>
          </p:spPr>
          <p:txBody>
            <a:bodyPr wrap="square" rtlCol="0">
              <a:spAutoFit/>
            </a:bodyPr>
            <a:lstStyle/>
            <a:p>
              <a:r>
                <a:rPr lang="en-US" sz="1200"/>
                <a:t>10</a:t>
              </a:r>
            </a:p>
          </p:txBody>
        </p:sp>
      </p:grpSp>
      <p:grpSp>
        <p:nvGrpSpPr>
          <p:cNvPr id="122" name="Group 121">
            <a:extLst>
              <a:ext uri="{FF2B5EF4-FFF2-40B4-BE49-F238E27FC236}">
                <a16:creationId xmlns:a16="http://schemas.microsoft.com/office/drawing/2014/main" id="{537972DA-F3CB-441F-9469-6FB9BB7650C1}"/>
              </a:ext>
            </a:extLst>
          </p:cNvPr>
          <p:cNvGrpSpPr/>
          <p:nvPr/>
        </p:nvGrpSpPr>
        <p:grpSpPr>
          <a:xfrm>
            <a:off x="8089926" y="1352684"/>
            <a:ext cx="273450" cy="286981"/>
            <a:chOff x="220492" y="773633"/>
            <a:chExt cx="330742" cy="362846"/>
          </a:xfrm>
        </p:grpSpPr>
        <p:sp>
          <p:nvSpPr>
            <p:cNvPr id="123" name="Oval 122">
              <a:extLst>
                <a:ext uri="{FF2B5EF4-FFF2-40B4-BE49-F238E27FC236}">
                  <a16:creationId xmlns:a16="http://schemas.microsoft.com/office/drawing/2014/main" id="{1B71FC98-7A26-4FA5-8F41-7F848BB226B1}"/>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4" name="TextBox 123">
              <a:extLst>
                <a:ext uri="{FF2B5EF4-FFF2-40B4-BE49-F238E27FC236}">
                  <a16:creationId xmlns:a16="http://schemas.microsoft.com/office/drawing/2014/main" id="{9BBC9C09-BB37-4FAF-88D4-E24E124E6C02}"/>
                </a:ext>
              </a:extLst>
            </p:cNvPr>
            <p:cNvSpPr txBox="1"/>
            <p:nvPr/>
          </p:nvSpPr>
          <p:spPr>
            <a:xfrm>
              <a:off x="220492" y="773633"/>
              <a:ext cx="330741" cy="336255"/>
            </a:xfrm>
            <a:prstGeom prst="rect">
              <a:avLst/>
            </a:prstGeom>
            <a:noFill/>
          </p:spPr>
          <p:txBody>
            <a:bodyPr wrap="square" rtlCol="0">
              <a:spAutoFit/>
            </a:bodyPr>
            <a:lstStyle/>
            <a:p>
              <a:r>
                <a:rPr lang="en-US" sz="1200"/>
                <a:t>2</a:t>
              </a:r>
            </a:p>
          </p:txBody>
        </p:sp>
      </p:grpSp>
    </p:spTree>
    <p:extLst>
      <p:ext uri="{BB962C8B-B14F-4D97-AF65-F5344CB8AC3E}">
        <p14:creationId xmlns:p14="http://schemas.microsoft.com/office/powerpoint/2010/main" val="3384651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932B0098-4B90-49CB-A6F6-01F5CFBEB967}"/>
              </a:ext>
            </a:extLst>
          </p:cNvPr>
          <p:cNvSpPr/>
          <p:nvPr/>
        </p:nvSpPr>
        <p:spPr>
          <a:xfrm>
            <a:off x="9423317" y="4112593"/>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a:solidFill>
                  <a:schemeClr val="bg1"/>
                </a:solidFill>
                <a:effectLst/>
                <a:latin typeface="+mn-lt"/>
                <a:ea typeface="SimSun" panose="02010600030101010101" pitchFamily="2" charset="-122"/>
              </a:rPr>
              <a:t>Updating Fact Table </a:t>
            </a:r>
            <a:r>
              <a:rPr lang="en-NZ" sz="1600">
                <a:solidFill>
                  <a:schemeClr val="bg1"/>
                </a:solidFill>
                <a:effectLst/>
                <a:latin typeface="+mn-lt"/>
                <a:ea typeface="SimSun" panose="02010600030101010101" pitchFamily="2" charset="-122"/>
              </a:rPr>
              <a:t>(Understanding </a:t>
            </a:r>
            <a:r>
              <a:rPr lang="en-NZ" sz="1600" err="1">
                <a:solidFill>
                  <a:schemeClr val="bg1"/>
                </a:solidFill>
                <a:effectLst/>
                <a:latin typeface="+mn-lt"/>
                <a:ea typeface="SimSun" panose="02010600030101010101" pitchFamily="2" charset="-122"/>
              </a:rPr>
              <a:t>factSale</a:t>
            </a:r>
            <a:r>
              <a:rPr lang="en-NZ" sz="1600">
                <a:solidFill>
                  <a:schemeClr val="bg1"/>
                </a:solidFill>
                <a:effectLst/>
                <a:latin typeface="+mn-lt"/>
                <a:ea typeface="SimSun" panose="02010600030101010101" pitchFamily="2" charset="-122"/>
              </a:rPr>
              <a:t> Data Flow)</a:t>
            </a:r>
            <a:endParaRPr lang="en-NZ" sz="240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F28A0469-B66C-436D-972D-38736BB51572}"/>
              </a:ext>
            </a:extLst>
          </p:cNvPr>
          <p:cNvPicPr>
            <a:picLocks noChangeAspect="1"/>
          </p:cNvPicPr>
          <p:nvPr/>
        </p:nvPicPr>
        <p:blipFill>
          <a:blip r:embed="rId2"/>
          <a:stretch>
            <a:fillRect/>
          </a:stretch>
        </p:blipFill>
        <p:spPr>
          <a:xfrm>
            <a:off x="3112547" y="1028700"/>
            <a:ext cx="6219825" cy="4800600"/>
          </a:xfrm>
          <a:prstGeom prst="rect">
            <a:avLst/>
          </a:prstGeom>
        </p:spPr>
      </p:pic>
      <p:sp>
        <p:nvSpPr>
          <p:cNvPr id="6" name="Rectangle: Rounded Corners 5">
            <a:extLst>
              <a:ext uri="{FF2B5EF4-FFF2-40B4-BE49-F238E27FC236}">
                <a16:creationId xmlns:a16="http://schemas.microsoft.com/office/drawing/2014/main" id="{38BAA057-15E6-40EB-A572-C1BD7846C4E2}"/>
              </a:ext>
            </a:extLst>
          </p:cNvPr>
          <p:cNvSpPr/>
          <p:nvPr/>
        </p:nvSpPr>
        <p:spPr>
          <a:xfrm>
            <a:off x="210462" y="979981"/>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CF0FC70-6A85-4986-BF3F-3B0FA4D5A766}"/>
              </a:ext>
            </a:extLst>
          </p:cNvPr>
          <p:cNvSpPr/>
          <p:nvPr/>
        </p:nvSpPr>
        <p:spPr>
          <a:xfrm>
            <a:off x="210462" y="4109755"/>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903001E-3627-404A-A8B5-406FD01F16F3}"/>
              </a:ext>
            </a:extLst>
          </p:cNvPr>
          <p:cNvSpPr/>
          <p:nvPr/>
        </p:nvSpPr>
        <p:spPr>
          <a:xfrm>
            <a:off x="210462" y="2023239"/>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938E587-ED90-4C01-BA05-4E6D04740031}"/>
              </a:ext>
            </a:extLst>
          </p:cNvPr>
          <p:cNvSpPr/>
          <p:nvPr/>
        </p:nvSpPr>
        <p:spPr>
          <a:xfrm>
            <a:off x="210462" y="3066497"/>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04F5B08-DA70-4B3B-8650-C23BD27D284C}"/>
              </a:ext>
            </a:extLst>
          </p:cNvPr>
          <p:cNvSpPr/>
          <p:nvPr/>
        </p:nvSpPr>
        <p:spPr>
          <a:xfrm>
            <a:off x="210462" y="5153012"/>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EE54D15-4D06-4630-80F3-28DBAE6A29C6}"/>
              </a:ext>
            </a:extLst>
          </p:cNvPr>
          <p:cNvSpPr/>
          <p:nvPr/>
        </p:nvSpPr>
        <p:spPr>
          <a:xfrm>
            <a:off x="119519" y="882027"/>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a:t>
            </a:r>
            <a:endParaRPr lang="en-US" sz="2400">
              <a:solidFill>
                <a:schemeClr val="tx1"/>
              </a:solidFill>
            </a:endParaRPr>
          </a:p>
        </p:txBody>
      </p:sp>
      <p:sp>
        <p:nvSpPr>
          <p:cNvPr id="12" name="Oval 11">
            <a:extLst>
              <a:ext uri="{FF2B5EF4-FFF2-40B4-BE49-F238E27FC236}">
                <a16:creationId xmlns:a16="http://schemas.microsoft.com/office/drawing/2014/main" id="{2C996124-06B7-4F1C-BDE0-D18B00BBD874}"/>
              </a:ext>
            </a:extLst>
          </p:cNvPr>
          <p:cNvSpPr/>
          <p:nvPr/>
        </p:nvSpPr>
        <p:spPr>
          <a:xfrm>
            <a:off x="119516" y="1900895"/>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2</a:t>
            </a:r>
          </a:p>
        </p:txBody>
      </p:sp>
      <p:sp>
        <p:nvSpPr>
          <p:cNvPr id="13" name="Oval 12">
            <a:extLst>
              <a:ext uri="{FF2B5EF4-FFF2-40B4-BE49-F238E27FC236}">
                <a16:creationId xmlns:a16="http://schemas.microsoft.com/office/drawing/2014/main" id="{1AD73C83-BA32-4139-8171-530AEAED4E13}"/>
              </a:ext>
            </a:extLst>
          </p:cNvPr>
          <p:cNvSpPr/>
          <p:nvPr/>
        </p:nvSpPr>
        <p:spPr>
          <a:xfrm>
            <a:off x="119517" y="5066481"/>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5</a:t>
            </a:r>
          </a:p>
        </p:txBody>
      </p:sp>
      <p:sp>
        <p:nvSpPr>
          <p:cNvPr id="14" name="Oval 13">
            <a:extLst>
              <a:ext uri="{FF2B5EF4-FFF2-40B4-BE49-F238E27FC236}">
                <a16:creationId xmlns:a16="http://schemas.microsoft.com/office/drawing/2014/main" id="{E31F6D80-D37A-44F0-9FA7-23A28D81AF18}"/>
              </a:ext>
            </a:extLst>
          </p:cNvPr>
          <p:cNvSpPr/>
          <p:nvPr/>
        </p:nvSpPr>
        <p:spPr>
          <a:xfrm>
            <a:off x="119518" y="3975989"/>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4</a:t>
            </a:r>
          </a:p>
        </p:txBody>
      </p:sp>
      <p:sp>
        <p:nvSpPr>
          <p:cNvPr id="15" name="Oval 14">
            <a:extLst>
              <a:ext uri="{FF2B5EF4-FFF2-40B4-BE49-F238E27FC236}">
                <a16:creationId xmlns:a16="http://schemas.microsoft.com/office/drawing/2014/main" id="{112BDBBD-7C36-4D4D-8262-74C69886A15F}"/>
              </a:ext>
            </a:extLst>
          </p:cNvPr>
          <p:cNvSpPr/>
          <p:nvPr/>
        </p:nvSpPr>
        <p:spPr>
          <a:xfrm>
            <a:off x="119517" y="2947366"/>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3</a:t>
            </a:r>
          </a:p>
        </p:txBody>
      </p:sp>
      <p:sp>
        <p:nvSpPr>
          <p:cNvPr id="25" name="Rectangle: Rounded Corners 24">
            <a:extLst>
              <a:ext uri="{FF2B5EF4-FFF2-40B4-BE49-F238E27FC236}">
                <a16:creationId xmlns:a16="http://schemas.microsoft.com/office/drawing/2014/main" id="{4DC24DB3-C285-41A9-A132-A545222A1B4E}"/>
              </a:ext>
            </a:extLst>
          </p:cNvPr>
          <p:cNvSpPr/>
          <p:nvPr/>
        </p:nvSpPr>
        <p:spPr>
          <a:xfrm>
            <a:off x="9423318" y="979981"/>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473CE96-3BE7-4893-AE39-EDD9770D55CF}"/>
              </a:ext>
            </a:extLst>
          </p:cNvPr>
          <p:cNvSpPr/>
          <p:nvPr/>
        </p:nvSpPr>
        <p:spPr>
          <a:xfrm>
            <a:off x="9423318" y="4109755"/>
            <a:ext cx="2593826" cy="578882"/>
          </a:xfrm>
          <a:prstGeom prst="roundRect">
            <a:avLst/>
          </a:prstGeom>
          <a:noFill/>
        </p:spPr>
        <p:txBody>
          <a:bodyPr wrap="none" rtlCol="0">
            <a:spAutoFit/>
          </a:bodyPr>
          <a:lstStyle/>
          <a:p>
            <a:r>
              <a:rPr lang="en-US" sz="1400">
                <a:solidFill>
                  <a:schemeClr val="tx1"/>
                </a:solidFill>
              </a:rPr>
              <a:t>Lookup </a:t>
            </a:r>
            <a:r>
              <a:rPr lang="en-US" sz="1400" err="1">
                <a:solidFill>
                  <a:schemeClr val="tx1"/>
                </a:solidFill>
              </a:rPr>
              <a:t>DimTime</a:t>
            </a:r>
            <a:r>
              <a:rPr lang="en-US" sz="1400">
                <a:solidFill>
                  <a:schemeClr val="tx1"/>
                </a:solidFill>
              </a:rPr>
              <a:t> to get </a:t>
            </a:r>
            <a:r>
              <a:rPr lang="en-US" sz="1400" err="1">
                <a:solidFill>
                  <a:schemeClr val="tx1"/>
                </a:solidFill>
              </a:rPr>
              <a:t>TimeKey</a:t>
            </a:r>
            <a:endParaRPr lang="en-US" sz="1400">
              <a:solidFill>
                <a:schemeClr val="tx1"/>
              </a:solidFill>
            </a:endParaRPr>
          </a:p>
          <a:p>
            <a:endParaRPr lang="en-US" sz="1400">
              <a:solidFill>
                <a:schemeClr val="tx1"/>
              </a:solidFill>
            </a:endParaRPr>
          </a:p>
        </p:txBody>
      </p:sp>
      <p:sp>
        <p:nvSpPr>
          <p:cNvPr id="27" name="Rectangle: Rounded Corners 26">
            <a:extLst>
              <a:ext uri="{FF2B5EF4-FFF2-40B4-BE49-F238E27FC236}">
                <a16:creationId xmlns:a16="http://schemas.microsoft.com/office/drawing/2014/main" id="{81D22D14-5243-4CD7-994E-3B9FEAEC16EF}"/>
              </a:ext>
            </a:extLst>
          </p:cNvPr>
          <p:cNvSpPr/>
          <p:nvPr/>
        </p:nvSpPr>
        <p:spPr>
          <a:xfrm>
            <a:off x="9423318" y="2023239"/>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F4324D60-1BC4-4AF2-A740-59E5692CFB76}"/>
              </a:ext>
            </a:extLst>
          </p:cNvPr>
          <p:cNvSpPr/>
          <p:nvPr/>
        </p:nvSpPr>
        <p:spPr>
          <a:xfrm>
            <a:off x="9423318" y="3066497"/>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C27C2A8-4231-4E91-8EB3-670B88E8F0B3}"/>
              </a:ext>
            </a:extLst>
          </p:cNvPr>
          <p:cNvSpPr/>
          <p:nvPr/>
        </p:nvSpPr>
        <p:spPr>
          <a:xfrm>
            <a:off x="9423318" y="5153012"/>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B58FB77-42CE-4C7A-90D9-24CC84BC6952}"/>
              </a:ext>
            </a:extLst>
          </p:cNvPr>
          <p:cNvSpPr/>
          <p:nvPr/>
        </p:nvSpPr>
        <p:spPr>
          <a:xfrm>
            <a:off x="9348892" y="882027"/>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a:t>
            </a:r>
          </a:p>
        </p:txBody>
      </p:sp>
      <p:sp>
        <p:nvSpPr>
          <p:cNvPr id="31" name="Oval 30">
            <a:extLst>
              <a:ext uri="{FF2B5EF4-FFF2-40B4-BE49-F238E27FC236}">
                <a16:creationId xmlns:a16="http://schemas.microsoft.com/office/drawing/2014/main" id="{E440A11E-A2BC-4F10-8D2A-9D09D43764FC}"/>
              </a:ext>
            </a:extLst>
          </p:cNvPr>
          <p:cNvSpPr/>
          <p:nvPr/>
        </p:nvSpPr>
        <p:spPr>
          <a:xfrm>
            <a:off x="9348889" y="1900895"/>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7</a:t>
            </a:r>
          </a:p>
        </p:txBody>
      </p:sp>
      <p:sp>
        <p:nvSpPr>
          <p:cNvPr id="33" name="Oval 32">
            <a:extLst>
              <a:ext uri="{FF2B5EF4-FFF2-40B4-BE49-F238E27FC236}">
                <a16:creationId xmlns:a16="http://schemas.microsoft.com/office/drawing/2014/main" id="{586996B3-F5BB-4E99-974F-FF8646BAA1E3}"/>
              </a:ext>
            </a:extLst>
          </p:cNvPr>
          <p:cNvSpPr/>
          <p:nvPr/>
        </p:nvSpPr>
        <p:spPr>
          <a:xfrm>
            <a:off x="9348891" y="3975989"/>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a:t>
            </a:r>
          </a:p>
        </p:txBody>
      </p:sp>
      <p:sp>
        <p:nvSpPr>
          <p:cNvPr id="34" name="Oval 33">
            <a:extLst>
              <a:ext uri="{FF2B5EF4-FFF2-40B4-BE49-F238E27FC236}">
                <a16:creationId xmlns:a16="http://schemas.microsoft.com/office/drawing/2014/main" id="{508BA50C-C24E-49FE-B2D9-1D9F89D68F4E}"/>
              </a:ext>
            </a:extLst>
          </p:cNvPr>
          <p:cNvSpPr/>
          <p:nvPr/>
        </p:nvSpPr>
        <p:spPr>
          <a:xfrm>
            <a:off x="9348890" y="2947366"/>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8</a:t>
            </a:r>
          </a:p>
        </p:txBody>
      </p:sp>
      <p:sp>
        <p:nvSpPr>
          <p:cNvPr id="35" name="Oval 34">
            <a:extLst>
              <a:ext uri="{FF2B5EF4-FFF2-40B4-BE49-F238E27FC236}">
                <a16:creationId xmlns:a16="http://schemas.microsoft.com/office/drawing/2014/main" id="{185D8879-9806-49D4-BAAD-54733FC0E3F6}"/>
              </a:ext>
            </a:extLst>
          </p:cNvPr>
          <p:cNvSpPr/>
          <p:nvPr/>
        </p:nvSpPr>
        <p:spPr>
          <a:xfrm>
            <a:off x="9348889" y="5028662"/>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E5F3600-99BB-4701-B453-77D5E7E1D7DF}"/>
              </a:ext>
            </a:extLst>
          </p:cNvPr>
          <p:cNvSpPr txBox="1"/>
          <p:nvPr/>
        </p:nvSpPr>
        <p:spPr>
          <a:xfrm>
            <a:off x="9290110" y="5018264"/>
            <a:ext cx="418704" cy="369332"/>
          </a:xfrm>
          <a:prstGeom prst="rect">
            <a:avLst/>
          </a:prstGeom>
          <a:noFill/>
        </p:spPr>
        <p:txBody>
          <a:bodyPr wrap="none" rtlCol="0">
            <a:spAutoFit/>
          </a:bodyPr>
          <a:lstStyle/>
          <a:p>
            <a:r>
              <a:rPr lang="en-US"/>
              <a:t>10</a:t>
            </a:r>
          </a:p>
        </p:txBody>
      </p:sp>
      <p:sp>
        <p:nvSpPr>
          <p:cNvPr id="37" name="TextBox 36">
            <a:extLst>
              <a:ext uri="{FF2B5EF4-FFF2-40B4-BE49-F238E27FC236}">
                <a16:creationId xmlns:a16="http://schemas.microsoft.com/office/drawing/2014/main" id="{EEC3E11A-3D3C-401B-8F7C-69ECDF005B19}"/>
              </a:ext>
            </a:extLst>
          </p:cNvPr>
          <p:cNvSpPr txBox="1"/>
          <p:nvPr/>
        </p:nvSpPr>
        <p:spPr>
          <a:xfrm>
            <a:off x="466780" y="1028700"/>
            <a:ext cx="2166940" cy="738664"/>
          </a:xfrm>
          <a:prstGeom prst="rect">
            <a:avLst/>
          </a:prstGeom>
          <a:noFill/>
        </p:spPr>
        <p:txBody>
          <a:bodyPr wrap="none" rtlCol="0">
            <a:spAutoFit/>
          </a:bodyPr>
          <a:lstStyle/>
          <a:p>
            <a:r>
              <a:rPr lang="en-US" sz="1400"/>
              <a:t>OLE DB Source </a:t>
            </a:r>
            <a:r>
              <a:rPr lang="en-US" sz="1400" err="1"/>
              <a:t>SalesAU_NZ</a:t>
            </a:r>
            <a:endParaRPr lang="en-US" sz="1400"/>
          </a:p>
          <a:p>
            <a:endParaRPr lang="en-US" sz="1400"/>
          </a:p>
          <a:p>
            <a:r>
              <a:rPr lang="en-US" sz="1400" err="1"/>
              <a:t>dbo.productorder</a:t>
            </a:r>
            <a:endParaRPr lang="en-US" sz="1400"/>
          </a:p>
        </p:txBody>
      </p:sp>
      <p:sp>
        <p:nvSpPr>
          <p:cNvPr id="38" name="TextBox 37">
            <a:extLst>
              <a:ext uri="{FF2B5EF4-FFF2-40B4-BE49-F238E27FC236}">
                <a16:creationId xmlns:a16="http://schemas.microsoft.com/office/drawing/2014/main" id="{A648306A-7B88-4131-B70C-28F50718CC65}"/>
              </a:ext>
            </a:extLst>
          </p:cNvPr>
          <p:cNvSpPr txBox="1"/>
          <p:nvPr/>
        </p:nvSpPr>
        <p:spPr>
          <a:xfrm>
            <a:off x="450257" y="2051611"/>
            <a:ext cx="2166940" cy="738664"/>
          </a:xfrm>
          <a:prstGeom prst="rect">
            <a:avLst/>
          </a:prstGeom>
          <a:noFill/>
        </p:spPr>
        <p:txBody>
          <a:bodyPr wrap="none" rtlCol="0">
            <a:spAutoFit/>
          </a:bodyPr>
          <a:lstStyle/>
          <a:p>
            <a:r>
              <a:rPr lang="en-US" sz="1400"/>
              <a:t>OLE DB Source </a:t>
            </a:r>
            <a:r>
              <a:rPr lang="en-US" sz="1400" err="1"/>
              <a:t>SalesAU_NZ</a:t>
            </a:r>
            <a:endParaRPr lang="en-US" sz="1400"/>
          </a:p>
          <a:p>
            <a:endParaRPr lang="en-US" sz="1400"/>
          </a:p>
          <a:p>
            <a:r>
              <a:rPr lang="en-US" sz="1400" err="1"/>
              <a:t>dbo.productorder</a:t>
            </a:r>
            <a:endParaRPr lang="en-US" sz="1400"/>
          </a:p>
        </p:txBody>
      </p:sp>
      <p:sp>
        <p:nvSpPr>
          <p:cNvPr id="39" name="TextBox 38">
            <a:extLst>
              <a:ext uri="{FF2B5EF4-FFF2-40B4-BE49-F238E27FC236}">
                <a16:creationId xmlns:a16="http://schemas.microsoft.com/office/drawing/2014/main" id="{E0BA18D8-6E32-4FB2-8D08-F13A5865E0D3}"/>
              </a:ext>
            </a:extLst>
          </p:cNvPr>
          <p:cNvSpPr txBox="1"/>
          <p:nvPr/>
        </p:nvSpPr>
        <p:spPr>
          <a:xfrm>
            <a:off x="466780" y="3150793"/>
            <a:ext cx="2207561" cy="523220"/>
          </a:xfrm>
          <a:prstGeom prst="rect">
            <a:avLst/>
          </a:prstGeom>
          <a:noFill/>
        </p:spPr>
        <p:txBody>
          <a:bodyPr wrap="square" rtlCol="0">
            <a:spAutoFit/>
          </a:bodyPr>
          <a:lstStyle/>
          <a:p>
            <a:r>
              <a:rPr lang="en-US" sz="1400"/>
              <a:t>Lookup Customer to get </a:t>
            </a:r>
            <a:r>
              <a:rPr lang="en-US" sz="1400" err="1"/>
              <a:t>salesrepEmployeeNumber</a:t>
            </a:r>
            <a:endParaRPr lang="en-US" sz="1400"/>
          </a:p>
        </p:txBody>
      </p:sp>
      <p:sp>
        <p:nvSpPr>
          <p:cNvPr id="40" name="TextBox 39">
            <a:extLst>
              <a:ext uri="{FF2B5EF4-FFF2-40B4-BE49-F238E27FC236}">
                <a16:creationId xmlns:a16="http://schemas.microsoft.com/office/drawing/2014/main" id="{63499A17-22AE-4501-9066-51933D53E085}"/>
              </a:ext>
            </a:extLst>
          </p:cNvPr>
          <p:cNvSpPr txBox="1"/>
          <p:nvPr/>
        </p:nvSpPr>
        <p:spPr>
          <a:xfrm>
            <a:off x="466780" y="4150257"/>
            <a:ext cx="2207561" cy="523220"/>
          </a:xfrm>
          <a:prstGeom prst="rect">
            <a:avLst/>
          </a:prstGeom>
          <a:noFill/>
        </p:spPr>
        <p:txBody>
          <a:bodyPr wrap="square" rtlCol="0">
            <a:spAutoFit/>
          </a:bodyPr>
          <a:lstStyle/>
          <a:p>
            <a:r>
              <a:rPr lang="en-US" sz="1400"/>
              <a:t>Lookup Dim Employee to get the Employee Key</a:t>
            </a:r>
          </a:p>
        </p:txBody>
      </p:sp>
      <p:sp>
        <p:nvSpPr>
          <p:cNvPr id="41" name="TextBox 40">
            <a:extLst>
              <a:ext uri="{FF2B5EF4-FFF2-40B4-BE49-F238E27FC236}">
                <a16:creationId xmlns:a16="http://schemas.microsoft.com/office/drawing/2014/main" id="{C5DF4A7F-C48C-41E8-AD55-75A55130B6D6}"/>
              </a:ext>
            </a:extLst>
          </p:cNvPr>
          <p:cNvSpPr txBox="1"/>
          <p:nvPr/>
        </p:nvSpPr>
        <p:spPr>
          <a:xfrm>
            <a:off x="455142" y="5195160"/>
            <a:ext cx="2172646" cy="523220"/>
          </a:xfrm>
          <a:prstGeom prst="rect">
            <a:avLst/>
          </a:prstGeom>
          <a:noFill/>
        </p:spPr>
        <p:txBody>
          <a:bodyPr wrap="none" rtlCol="0">
            <a:spAutoFit/>
          </a:bodyPr>
          <a:lstStyle/>
          <a:p>
            <a:r>
              <a:rPr lang="en-US" sz="1400"/>
              <a:t>Lookup Dim Product to get </a:t>
            </a:r>
          </a:p>
          <a:p>
            <a:r>
              <a:rPr lang="en-US" sz="1400"/>
              <a:t>the Product Key</a:t>
            </a:r>
          </a:p>
        </p:txBody>
      </p:sp>
      <p:sp>
        <p:nvSpPr>
          <p:cNvPr id="42" name="TextBox 41">
            <a:extLst>
              <a:ext uri="{FF2B5EF4-FFF2-40B4-BE49-F238E27FC236}">
                <a16:creationId xmlns:a16="http://schemas.microsoft.com/office/drawing/2014/main" id="{2B428944-1F48-4A8D-A037-7EF709472FC3}"/>
              </a:ext>
            </a:extLst>
          </p:cNvPr>
          <p:cNvSpPr txBox="1"/>
          <p:nvPr/>
        </p:nvSpPr>
        <p:spPr>
          <a:xfrm>
            <a:off x="9568773" y="965503"/>
            <a:ext cx="2503708" cy="938719"/>
          </a:xfrm>
          <a:prstGeom prst="rect">
            <a:avLst/>
          </a:prstGeom>
          <a:noFill/>
        </p:spPr>
        <p:txBody>
          <a:bodyPr wrap="square" rtlCol="0">
            <a:spAutoFit/>
          </a:bodyPr>
          <a:lstStyle/>
          <a:p>
            <a:r>
              <a:rPr lang="en-US" sz="1100"/>
              <a:t>Derived Column to Replace NULL</a:t>
            </a:r>
          </a:p>
          <a:p>
            <a:r>
              <a:rPr lang="en-US" sz="1100"/>
              <a:t>(DT_DBDATE)REPLACENULL(shippedDate,"9999-12-31")</a:t>
            </a:r>
          </a:p>
          <a:p>
            <a:r>
              <a:rPr lang="en-US" sz="1100"/>
              <a:t>(DT_DBDATE)REPLACENULL(requiredDate,"9999-12-31")</a:t>
            </a:r>
          </a:p>
        </p:txBody>
      </p:sp>
      <p:sp>
        <p:nvSpPr>
          <p:cNvPr id="43" name="TextBox 42">
            <a:extLst>
              <a:ext uri="{FF2B5EF4-FFF2-40B4-BE49-F238E27FC236}">
                <a16:creationId xmlns:a16="http://schemas.microsoft.com/office/drawing/2014/main" id="{1F93D554-5D9A-4AF3-A971-A991DC087E97}"/>
              </a:ext>
            </a:extLst>
          </p:cNvPr>
          <p:cNvSpPr txBox="1"/>
          <p:nvPr/>
        </p:nvSpPr>
        <p:spPr>
          <a:xfrm>
            <a:off x="9679630" y="2032391"/>
            <a:ext cx="2542619" cy="523220"/>
          </a:xfrm>
          <a:prstGeom prst="rect">
            <a:avLst/>
          </a:prstGeom>
          <a:noFill/>
        </p:spPr>
        <p:txBody>
          <a:bodyPr wrap="none" rtlCol="0">
            <a:spAutoFit/>
          </a:bodyPr>
          <a:lstStyle/>
          <a:p>
            <a:r>
              <a:rPr lang="en-US" sz="1400"/>
              <a:t>Lookup </a:t>
            </a:r>
            <a:r>
              <a:rPr lang="en-US" sz="1400" err="1"/>
              <a:t>DimTime</a:t>
            </a:r>
            <a:r>
              <a:rPr lang="en-US" sz="1400"/>
              <a:t> to get shipped </a:t>
            </a:r>
          </a:p>
          <a:p>
            <a:r>
              <a:rPr lang="en-US" sz="1400"/>
              <a:t>date key</a:t>
            </a:r>
          </a:p>
        </p:txBody>
      </p:sp>
      <p:sp>
        <p:nvSpPr>
          <p:cNvPr id="44" name="TextBox 43">
            <a:extLst>
              <a:ext uri="{FF2B5EF4-FFF2-40B4-BE49-F238E27FC236}">
                <a16:creationId xmlns:a16="http://schemas.microsoft.com/office/drawing/2014/main" id="{D7C8D238-8B83-4DED-91DF-EE85F63E4EF4}"/>
              </a:ext>
            </a:extLst>
          </p:cNvPr>
          <p:cNvSpPr txBox="1"/>
          <p:nvPr/>
        </p:nvSpPr>
        <p:spPr>
          <a:xfrm>
            <a:off x="9514259" y="3008960"/>
            <a:ext cx="2573019" cy="954107"/>
          </a:xfrm>
          <a:prstGeom prst="rect">
            <a:avLst/>
          </a:prstGeom>
          <a:noFill/>
        </p:spPr>
        <p:txBody>
          <a:bodyPr wrap="square" rtlCol="0">
            <a:spAutoFit/>
          </a:bodyPr>
          <a:lstStyle/>
          <a:p>
            <a:r>
              <a:rPr lang="en-US" sz="1400"/>
              <a:t>Calculate </a:t>
            </a:r>
            <a:r>
              <a:rPr lang="en-US" sz="1400" err="1"/>
              <a:t>TotalPrice</a:t>
            </a:r>
            <a:r>
              <a:rPr lang="en-US" sz="1400"/>
              <a:t> = ABS(</a:t>
            </a:r>
            <a:r>
              <a:rPr lang="en-US" sz="1400" err="1"/>
              <a:t>quantityOrdered</a:t>
            </a:r>
            <a:r>
              <a:rPr lang="en-US" sz="1400"/>
              <a:t>) * ABS(</a:t>
            </a:r>
            <a:r>
              <a:rPr lang="en-US" sz="1400" err="1"/>
              <a:t>priceEach</a:t>
            </a:r>
            <a:r>
              <a:rPr lang="en-US" sz="1400"/>
              <a:t>), </a:t>
            </a:r>
            <a:r>
              <a:rPr lang="en-US" sz="1400" err="1"/>
              <a:t>TotalProfit</a:t>
            </a:r>
            <a:r>
              <a:rPr lang="en-US" sz="1400"/>
              <a:t> &amp; </a:t>
            </a:r>
            <a:r>
              <a:rPr lang="en-US" sz="1400" err="1"/>
              <a:t>TotalPossibleProfit</a:t>
            </a:r>
            <a:endParaRPr lang="en-US" sz="1400"/>
          </a:p>
        </p:txBody>
      </p:sp>
      <p:sp>
        <p:nvSpPr>
          <p:cNvPr id="46" name="TextBox 45">
            <a:extLst>
              <a:ext uri="{FF2B5EF4-FFF2-40B4-BE49-F238E27FC236}">
                <a16:creationId xmlns:a16="http://schemas.microsoft.com/office/drawing/2014/main" id="{72592A5D-FA17-4F7D-8340-89F3E64FD41B}"/>
              </a:ext>
            </a:extLst>
          </p:cNvPr>
          <p:cNvSpPr txBox="1"/>
          <p:nvPr/>
        </p:nvSpPr>
        <p:spPr>
          <a:xfrm>
            <a:off x="9742974" y="5302881"/>
            <a:ext cx="2222147" cy="307777"/>
          </a:xfrm>
          <a:prstGeom prst="rect">
            <a:avLst/>
          </a:prstGeom>
          <a:noFill/>
        </p:spPr>
        <p:txBody>
          <a:bodyPr wrap="none" rtlCol="0">
            <a:spAutoFit/>
          </a:bodyPr>
          <a:lstStyle/>
          <a:p>
            <a:r>
              <a:rPr lang="en-US" sz="1400"/>
              <a:t>Load in Fact Table – </a:t>
            </a:r>
            <a:r>
              <a:rPr lang="en-US" sz="1400" err="1"/>
              <a:t>factSale</a:t>
            </a:r>
            <a:endParaRPr lang="en-US" sz="1400"/>
          </a:p>
        </p:txBody>
      </p:sp>
      <p:cxnSp>
        <p:nvCxnSpPr>
          <p:cNvPr id="49" name="Straight Connector 48">
            <a:extLst>
              <a:ext uri="{FF2B5EF4-FFF2-40B4-BE49-F238E27FC236}">
                <a16:creationId xmlns:a16="http://schemas.microsoft.com/office/drawing/2014/main" id="{BB1885F8-17F1-4B16-A5D0-B276C749FCFD}"/>
              </a:ext>
            </a:extLst>
          </p:cNvPr>
          <p:cNvCxnSpPr>
            <a:stCxn id="6" idx="3"/>
          </p:cNvCxnSpPr>
          <p:nvPr/>
        </p:nvCxnSpPr>
        <p:spPr>
          <a:xfrm>
            <a:off x="2859628" y="1391461"/>
            <a:ext cx="1274627" cy="65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27BC8F-033F-4D4C-BA9E-620BC9940331}"/>
              </a:ext>
            </a:extLst>
          </p:cNvPr>
          <p:cNvCxnSpPr/>
          <p:nvPr/>
        </p:nvCxnSpPr>
        <p:spPr>
          <a:xfrm>
            <a:off x="2856992" y="2625545"/>
            <a:ext cx="1274627" cy="65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3653E88-550B-4A3D-9630-31D76593A33F}"/>
              </a:ext>
            </a:extLst>
          </p:cNvPr>
          <p:cNvCxnSpPr>
            <a:cxnSpLocks/>
          </p:cNvCxnSpPr>
          <p:nvPr/>
        </p:nvCxnSpPr>
        <p:spPr>
          <a:xfrm>
            <a:off x="3494305" y="2625545"/>
            <a:ext cx="0" cy="5252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02BA096-409F-4154-B7C3-7C4CB19546DD}"/>
              </a:ext>
            </a:extLst>
          </p:cNvPr>
          <p:cNvCxnSpPr>
            <a:cxnSpLocks/>
          </p:cNvCxnSpPr>
          <p:nvPr/>
        </p:nvCxnSpPr>
        <p:spPr>
          <a:xfrm flipH="1">
            <a:off x="3484577" y="3150793"/>
            <a:ext cx="70804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4829FF-9F4B-45BC-BC90-D83CBE8B73B3}"/>
              </a:ext>
            </a:extLst>
          </p:cNvPr>
          <p:cNvCxnSpPr>
            <a:cxnSpLocks/>
          </p:cNvCxnSpPr>
          <p:nvPr/>
        </p:nvCxnSpPr>
        <p:spPr>
          <a:xfrm flipH="1">
            <a:off x="2876146" y="3295902"/>
            <a:ext cx="131647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C23B9EB-15F5-4779-B7CF-3A1EFE298A9F}"/>
              </a:ext>
            </a:extLst>
          </p:cNvPr>
          <p:cNvCxnSpPr>
            <a:cxnSpLocks/>
          </p:cNvCxnSpPr>
          <p:nvPr/>
        </p:nvCxnSpPr>
        <p:spPr>
          <a:xfrm flipH="1">
            <a:off x="2865252" y="4411867"/>
            <a:ext cx="12663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9A3CD14-1AFC-4A66-9308-C0B0AF1B9369}"/>
              </a:ext>
            </a:extLst>
          </p:cNvPr>
          <p:cNvCxnSpPr>
            <a:cxnSpLocks/>
          </p:cNvCxnSpPr>
          <p:nvPr/>
        </p:nvCxnSpPr>
        <p:spPr>
          <a:xfrm flipH="1">
            <a:off x="2856993" y="5576214"/>
            <a:ext cx="147087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0871E16-0183-4F37-A48C-80BE565D29F9}"/>
              </a:ext>
            </a:extLst>
          </p:cNvPr>
          <p:cNvCxnSpPr>
            <a:cxnSpLocks/>
          </p:cNvCxnSpPr>
          <p:nvPr/>
        </p:nvCxnSpPr>
        <p:spPr>
          <a:xfrm flipH="1">
            <a:off x="4327864" y="5202930"/>
            <a:ext cx="1" cy="3732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AE81DD-D610-4FBA-B5F7-0316CA522F68}"/>
              </a:ext>
            </a:extLst>
          </p:cNvPr>
          <p:cNvCxnSpPr>
            <a:cxnSpLocks/>
          </p:cNvCxnSpPr>
          <p:nvPr/>
        </p:nvCxnSpPr>
        <p:spPr>
          <a:xfrm flipH="1">
            <a:off x="7952447" y="5564492"/>
            <a:ext cx="147087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8A8BD82-CE97-4102-AB1A-6A44040232F2}"/>
              </a:ext>
            </a:extLst>
          </p:cNvPr>
          <p:cNvCxnSpPr>
            <a:cxnSpLocks/>
          </p:cNvCxnSpPr>
          <p:nvPr/>
        </p:nvCxnSpPr>
        <p:spPr>
          <a:xfrm flipH="1">
            <a:off x="8472791" y="4109755"/>
            <a:ext cx="783159"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35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368E7673-E866-4528-95FE-4F63F14E319D}"/>
              </a:ext>
            </a:extLst>
          </p:cNvPr>
          <p:cNvSpPr txBox="1"/>
          <p:nvPr/>
        </p:nvSpPr>
        <p:spPr>
          <a:xfrm>
            <a:off x="224267" y="659199"/>
            <a:ext cx="11740753" cy="1169551"/>
          </a:xfrm>
          <a:prstGeom prst="rect">
            <a:avLst/>
          </a:prstGeom>
          <a:noFill/>
        </p:spPr>
        <p:txBody>
          <a:bodyPr wrap="square">
            <a:spAutoFit/>
          </a:bodyPr>
          <a:lstStyle/>
          <a:p>
            <a:r>
              <a:rPr lang="en-US" sz="1400" b="0" i="0">
                <a:solidFill>
                  <a:srgbClr val="171717"/>
                </a:solidFill>
                <a:effectLst/>
              </a:rPr>
              <a:t>SQL Server Integration Services includes log providers that you can use to implement logging in packages, containers, and tasks. With logging, you can capture run-time information about a package, helping you audit and troubleshoot a package every time it is run. For example, a log can capture the name of the operator who ran the package and the time the package began and finished</a:t>
            </a:r>
          </a:p>
          <a:p>
            <a:endParaRPr lang="en-US" sz="1400">
              <a:solidFill>
                <a:srgbClr val="171717"/>
              </a:solidFill>
            </a:endParaRPr>
          </a:p>
          <a:p>
            <a:r>
              <a:rPr lang="en-US" sz="1400">
                <a:solidFill>
                  <a:srgbClr val="171717"/>
                </a:solidFill>
              </a:rPr>
              <a:t>Right click on the SSIS package and select logging to configure SSIS Package log</a:t>
            </a:r>
            <a:endParaRPr lang="en-US" sz="1400"/>
          </a:p>
        </p:txBody>
      </p:sp>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ea typeface="Times New Roman" panose="02020603050405020304" pitchFamily="18" charset="0"/>
              </a:rPr>
              <a:t>Logging in Integration Services Project</a:t>
            </a:r>
          </a:p>
        </p:txBody>
      </p:sp>
      <p:pic>
        <p:nvPicPr>
          <p:cNvPr id="3" name="Picture 4" descr="Graphical user interface, text, application&#10;&#10;Description automatically generated">
            <a:extLst>
              <a:ext uri="{FF2B5EF4-FFF2-40B4-BE49-F238E27FC236}">
                <a16:creationId xmlns:a16="http://schemas.microsoft.com/office/drawing/2014/main" id="{6C1CF7C1-72DF-4B6F-89DD-2DC9CDB4B70C}"/>
              </a:ext>
            </a:extLst>
          </p:cNvPr>
          <p:cNvPicPr>
            <a:picLocks noChangeAspect="1"/>
          </p:cNvPicPr>
          <p:nvPr/>
        </p:nvPicPr>
        <p:blipFill>
          <a:blip r:embed="rId2"/>
          <a:stretch>
            <a:fillRect/>
          </a:stretch>
        </p:blipFill>
        <p:spPr>
          <a:xfrm>
            <a:off x="224267" y="1925663"/>
            <a:ext cx="5808192" cy="3667010"/>
          </a:xfrm>
          <a:prstGeom prst="rect">
            <a:avLst/>
          </a:prstGeom>
          <a:effectLst/>
        </p:spPr>
      </p:pic>
      <p:pic>
        <p:nvPicPr>
          <p:cNvPr id="7" name="Picture 8" descr="Text, table&#10;&#10;Description automatically generated">
            <a:extLst>
              <a:ext uri="{FF2B5EF4-FFF2-40B4-BE49-F238E27FC236}">
                <a16:creationId xmlns:a16="http://schemas.microsoft.com/office/drawing/2014/main" id="{3DFEC3A0-6C59-4C1B-8B78-BB516378A9BC}"/>
              </a:ext>
            </a:extLst>
          </p:cNvPr>
          <p:cNvPicPr>
            <a:picLocks noChangeAspect="1"/>
          </p:cNvPicPr>
          <p:nvPr/>
        </p:nvPicPr>
        <p:blipFill>
          <a:blip r:embed="rId3"/>
          <a:stretch>
            <a:fillRect/>
          </a:stretch>
        </p:blipFill>
        <p:spPr>
          <a:xfrm>
            <a:off x="224267" y="5750234"/>
            <a:ext cx="11740753" cy="841308"/>
          </a:xfrm>
          <a:prstGeom prst="rect">
            <a:avLst/>
          </a:prstGeom>
          <a:effectLst/>
        </p:spPr>
      </p:pic>
      <p:pic>
        <p:nvPicPr>
          <p:cNvPr id="5" name="Picture 5" descr="Graphical user interface, text, application&#10;&#10;Description automatically generated">
            <a:extLst>
              <a:ext uri="{FF2B5EF4-FFF2-40B4-BE49-F238E27FC236}">
                <a16:creationId xmlns:a16="http://schemas.microsoft.com/office/drawing/2014/main" id="{C0046D57-9325-43D5-AF83-CC695916312B}"/>
              </a:ext>
            </a:extLst>
          </p:cNvPr>
          <p:cNvPicPr>
            <a:picLocks noChangeAspect="1"/>
          </p:cNvPicPr>
          <p:nvPr/>
        </p:nvPicPr>
        <p:blipFill>
          <a:blip r:embed="rId4"/>
          <a:stretch>
            <a:fillRect/>
          </a:stretch>
        </p:blipFill>
        <p:spPr>
          <a:xfrm>
            <a:off x="6094643" y="1927627"/>
            <a:ext cx="5795635" cy="3667010"/>
          </a:xfrm>
          <a:prstGeom prst="rect">
            <a:avLst/>
          </a:prstGeom>
          <a:effectLst/>
        </p:spPr>
      </p:pic>
    </p:spTree>
    <p:extLst>
      <p:ext uri="{BB962C8B-B14F-4D97-AF65-F5344CB8AC3E}">
        <p14:creationId xmlns:p14="http://schemas.microsoft.com/office/powerpoint/2010/main" val="553662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Design of Data Quality Framework </a:t>
            </a:r>
            <a:r>
              <a:rPr lang="en-US" sz="1800">
                <a:solidFill>
                  <a:schemeClr val="bg1"/>
                </a:solidFill>
                <a:latin typeface="Calibri"/>
                <a:ea typeface="Times New Roman" panose="02020603050405020304" pitchFamily="18" charset="0"/>
                <a:cs typeface="Calibri"/>
              </a:rPr>
              <a:t>in</a:t>
            </a:r>
            <a:r>
              <a:rPr lang="en-US" sz="2400">
                <a:solidFill>
                  <a:schemeClr val="bg1"/>
                </a:solidFill>
                <a:latin typeface="Calibri"/>
                <a:ea typeface="Times New Roman" panose="02020603050405020304" pitchFamily="18" charset="0"/>
                <a:cs typeface="Calibri"/>
              </a:rPr>
              <a:t> </a:t>
            </a:r>
            <a:r>
              <a:rPr lang="en-US" sz="1600">
                <a:solidFill>
                  <a:schemeClr val="bg1"/>
                </a:solidFill>
                <a:latin typeface="Calibri"/>
                <a:ea typeface="Times New Roman" panose="02020603050405020304" pitchFamily="18" charset="0"/>
                <a:cs typeface="Calibri"/>
              </a:rPr>
              <a:t>SQL Server</a:t>
            </a:r>
            <a:endParaRPr lang="en-US">
              <a:solidFill>
                <a:schemeClr val="bg1"/>
              </a:solidFill>
            </a:endParaRPr>
          </a:p>
        </p:txBody>
      </p:sp>
      <p:pic>
        <p:nvPicPr>
          <p:cNvPr id="7" name="Picture 6">
            <a:extLst>
              <a:ext uri="{FF2B5EF4-FFF2-40B4-BE49-F238E27FC236}">
                <a16:creationId xmlns:a16="http://schemas.microsoft.com/office/drawing/2014/main" id="{666D0C99-0041-4A78-83A1-3D3C5D9FFA2E}"/>
              </a:ext>
            </a:extLst>
          </p:cNvPr>
          <p:cNvPicPr>
            <a:picLocks noChangeAspect="1"/>
          </p:cNvPicPr>
          <p:nvPr/>
        </p:nvPicPr>
        <p:blipFill>
          <a:blip r:embed="rId2"/>
          <a:stretch>
            <a:fillRect/>
          </a:stretch>
        </p:blipFill>
        <p:spPr>
          <a:xfrm>
            <a:off x="389554" y="3540868"/>
            <a:ext cx="5402897" cy="3009355"/>
          </a:xfrm>
          <a:prstGeom prst="rect">
            <a:avLst/>
          </a:prstGeom>
        </p:spPr>
      </p:pic>
      <p:sp>
        <p:nvSpPr>
          <p:cNvPr id="10" name="TextBox 9">
            <a:extLst>
              <a:ext uri="{FF2B5EF4-FFF2-40B4-BE49-F238E27FC236}">
                <a16:creationId xmlns:a16="http://schemas.microsoft.com/office/drawing/2014/main" id="{5D3890F5-F12E-48CB-94D0-E6C60B2B9012}"/>
              </a:ext>
            </a:extLst>
          </p:cNvPr>
          <p:cNvSpPr txBox="1"/>
          <p:nvPr/>
        </p:nvSpPr>
        <p:spPr>
          <a:xfrm>
            <a:off x="6323013" y="671489"/>
            <a:ext cx="5593370" cy="6124754"/>
          </a:xfrm>
          <a:prstGeom prst="rect">
            <a:avLst/>
          </a:prstGeom>
          <a:noFill/>
        </p:spPr>
        <p:txBody>
          <a:bodyPr wrap="square">
            <a:spAutoFit/>
          </a:bodyPr>
          <a:lstStyle/>
          <a:p>
            <a:r>
              <a:rPr lang="en-US" sz="1400" b="0" i="0">
                <a:effectLst/>
                <a:latin typeface="Courier New" panose="02070309020205020404" pitchFamily="49" charset="0"/>
              </a:rPr>
              <a:t>CREATE</a:t>
            </a: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PROC</a:t>
            </a: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dbo.spr_insertdqrule</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@ExecutionID</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VARCHAR</a:t>
            </a:r>
            <a:r>
              <a:rPr lang="en-US" sz="1400" b="0" i="0">
                <a:effectLst/>
                <a:latin typeface="Courier New" panose="02070309020205020404" pitchFamily="49" charset="0"/>
              </a:rPr>
              <a:t>(</a:t>
            </a:r>
            <a:r>
              <a:rPr lang="en-US" sz="1400" b="0" i="0">
                <a:solidFill>
                  <a:srgbClr val="000000"/>
                </a:solidFill>
                <a:effectLst/>
                <a:latin typeface="Courier New" panose="02070309020205020404" pitchFamily="49" charset="0"/>
              </a:rPr>
              <a:t>100</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@TaskName</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VARCHAR</a:t>
            </a:r>
            <a:r>
              <a:rPr lang="en-US" sz="1400" b="0" i="0">
                <a:effectLst/>
                <a:latin typeface="Courier New" panose="02070309020205020404" pitchFamily="49" charset="0"/>
              </a:rPr>
              <a:t>(</a:t>
            </a:r>
            <a:r>
              <a:rPr lang="en-US" sz="1400" b="0" i="0">
                <a:solidFill>
                  <a:srgbClr val="000000"/>
                </a:solidFill>
                <a:effectLst/>
                <a:latin typeface="Courier New" panose="02070309020205020404" pitchFamily="49" charset="0"/>
              </a:rPr>
              <a:t>100</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@SourceRwCnt</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INT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@InsertRwCnt</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INT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@UpdateRwCnt</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INT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@ErrorRwCnt</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INT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@DestRwCnt</a:t>
            </a:r>
            <a:r>
              <a:rPr lang="en-US" sz="1400" b="0" i="0">
                <a:solidFill>
                  <a:srgbClr val="000000"/>
                </a:solidFill>
                <a:effectLst/>
                <a:latin typeface="Courier New" panose="02070309020205020404" pitchFamily="49" charset="0"/>
              </a:rPr>
              <a:t>   </a:t>
            </a:r>
            <a:r>
              <a:rPr lang="en-US" sz="1400" b="0" i="1">
                <a:solidFill>
                  <a:srgbClr val="000000"/>
                </a:solidFill>
                <a:effectLst/>
                <a:latin typeface="Courier New" panose="02070309020205020404" pitchFamily="49" charset="0"/>
              </a:rPr>
              <a:t>INT</a:t>
            </a:r>
            <a:br>
              <a:rPr lang="en-US" sz="1400"/>
            </a:br>
            <a:r>
              <a:rPr lang="en-US" sz="1400" b="0" i="0">
                <a:effectLst/>
                <a:latin typeface="Courier New" panose="02070309020205020404" pitchFamily="49" charset="0"/>
              </a:rPr>
              <a:t>AS</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BEGIN</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INSERT</a:t>
            </a: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INTO</a:t>
            </a: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dbo.dqrule</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executionid</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taskname</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sourcerwcnt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insertrwcnt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updat</a:t>
            </a: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erwcnt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errorrwcnt</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err="1">
                <a:effectLst/>
                <a:latin typeface="Courier New" panose="02070309020205020404" pitchFamily="49" charset="0"/>
              </a:rPr>
              <a:t>destrwcnt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SELECT</a:t>
            </a: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@ExecutionID,</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@TaskName,</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@SourceRwCnt,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@InsertRwCnt,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@UpdateRwCnt,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@ErrorRwCnt,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@DestRwCnt</a:t>
            </a:r>
            <a:br>
              <a:rPr lang="en-US" sz="1400"/>
            </a:br>
            <a:r>
              <a:rPr lang="en-US" sz="1400" b="0" i="0">
                <a:solidFill>
                  <a:srgbClr val="000000"/>
                </a:solidFill>
                <a:effectLst/>
                <a:latin typeface="Courier New" panose="02070309020205020404" pitchFamily="49" charset="0"/>
              </a:rPr>
              <a:t>  </a:t>
            </a:r>
            <a:r>
              <a:rPr lang="en-US" sz="1400" b="0" i="0">
                <a:effectLst/>
                <a:latin typeface="Courier New" panose="02070309020205020404" pitchFamily="49" charset="0"/>
              </a:rPr>
              <a:t>END</a:t>
            </a:r>
            <a:endParaRPr lang="en-US" sz="1400"/>
          </a:p>
        </p:txBody>
      </p:sp>
      <p:sp>
        <p:nvSpPr>
          <p:cNvPr id="12" name="TextBox 11">
            <a:extLst>
              <a:ext uri="{FF2B5EF4-FFF2-40B4-BE49-F238E27FC236}">
                <a16:creationId xmlns:a16="http://schemas.microsoft.com/office/drawing/2014/main" id="{AFC51B84-5FA3-4D6C-B7AD-F7992B390B4D}"/>
              </a:ext>
            </a:extLst>
          </p:cNvPr>
          <p:cNvSpPr txBox="1"/>
          <p:nvPr/>
        </p:nvSpPr>
        <p:spPr>
          <a:xfrm>
            <a:off x="2010882" y="6550223"/>
            <a:ext cx="1769267" cy="307777"/>
          </a:xfrm>
          <a:prstGeom prst="rect">
            <a:avLst/>
          </a:prstGeom>
          <a:noFill/>
        </p:spPr>
        <p:txBody>
          <a:bodyPr wrap="none" rtlCol="0">
            <a:spAutoFit/>
          </a:bodyPr>
          <a:lstStyle/>
          <a:p>
            <a:r>
              <a:rPr lang="en-US" sz="1400" b="1"/>
              <a:t>DQ Rule Table Design</a:t>
            </a:r>
          </a:p>
        </p:txBody>
      </p:sp>
      <p:sp>
        <p:nvSpPr>
          <p:cNvPr id="13" name="TextBox 12">
            <a:extLst>
              <a:ext uri="{FF2B5EF4-FFF2-40B4-BE49-F238E27FC236}">
                <a16:creationId xmlns:a16="http://schemas.microsoft.com/office/drawing/2014/main" id="{1680ECBD-AD84-48B2-ABE2-96A419905130}"/>
              </a:ext>
            </a:extLst>
          </p:cNvPr>
          <p:cNvSpPr txBox="1"/>
          <p:nvPr/>
        </p:nvSpPr>
        <p:spPr>
          <a:xfrm>
            <a:off x="8043485" y="6542249"/>
            <a:ext cx="2496646" cy="307777"/>
          </a:xfrm>
          <a:prstGeom prst="rect">
            <a:avLst/>
          </a:prstGeom>
          <a:noFill/>
        </p:spPr>
        <p:txBody>
          <a:bodyPr wrap="none" rtlCol="0">
            <a:spAutoFit/>
          </a:bodyPr>
          <a:lstStyle/>
          <a:p>
            <a:r>
              <a:rPr lang="en-US" sz="1400" b="1"/>
              <a:t>Data Capture Stored Procedure</a:t>
            </a:r>
          </a:p>
        </p:txBody>
      </p:sp>
      <p:sp>
        <p:nvSpPr>
          <p:cNvPr id="14" name="TextBox 13">
            <a:extLst>
              <a:ext uri="{FF2B5EF4-FFF2-40B4-BE49-F238E27FC236}">
                <a16:creationId xmlns:a16="http://schemas.microsoft.com/office/drawing/2014/main" id="{70591CAD-6550-4A88-A812-5D63B3E09605}"/>
              </a:ext>
            </a:extLst>
          </p:cNvPr>
          <p:cNvSpPr txBox="1"/>
          <p:nvPr/>
        </p:nvSpPr>
        <p:spPr>
          <a:xfrm>
            <a:off x="133165" y="865761"/>
            <a:ext cx="5962835" cy="1815882"/>
          </a:xfrm>
          <a:prstGeom prst="rect">
            <a:avLst/>
          </a:prstGeom>
          <a:noFill/>
        </p:spPr>
        <p:txBody>
          <a:bodyPr wrap="square" rtlCol="0">
            <a:spAutoFit/>
          </a:bodyPr>
          <a:lstStyle/>
          <a:p>
            <a:pPr marL="342900" indent="-342900">
              <a:buFont typeface="+mj-lt"/>
              <a:buAutoNum type="arabicPeriod"/>
            </a:pPr>
            <a:r>
              <a:rPr lang="en-US" sz="1600"/>
              <a:t>Created a new SQL Table ‘</a:t>
            </a:r>
            <a:r>
              <a:rPr lang="en-US" sz="1600" err="1"/>
              <a:t>DQRule</a:t>
            </a:r>
            <a:r>
              <a:rPr lang="en-US" sz="1600"/>
              <a:t>’ to measure the number of records at the starting and end of each independent data load process</a:t>
            </a:r>
          </a:p>
          <a:p>
            <a:pPr marL="342900" indent="-342900">
              <a:buFont typeface="+mj-lt"/>
              <a:buAutoNum type="arabicPeriod"/>
            </a:pPr>
            <a:r>
              <a:rPr lang="en-US" sz="1600"/>
              <a:t>Created a wrapper stored procedure to capture input from external systems (Integration Services Project in our case)</a:t>
            </a:r>
          </a:p>
          <a:p>
            <a:pPr marL="342900" indent="-342900">
              <a:buFont typeface="+mj-lt"/>
              <a:buAutoNum type="arabicPeriod"/>
            </a:pPr>
            <a:endParaRPr lang="en-US" sz="1600"/>
          </a:p>
          <a:p>
            <a:pPr marL="342900" indent="-342900">
              <a:buFont typeface="+mj-lt"/>
              <a:buAutoNum type="arabicPeriod"/>
            </a:pPr>
            <a:endParaRPr lang="en-US" sz="1600"/>
          </a:p>
        </p:txBody>
      </p:sp>
    </p:spTree>
    <p:extLst>
      <p:ext uri="{BB962C8B-B14F-4D97-AF65-F5344CB8AC3E}">
        <p14:creationId xmlns:p14="http://schemas.microsoft.com/office/powerpoint/2010/main" val="1399242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Implementing Variables</a:t>
            </a:r>
            <a:endParaRPr lang="en-US">
              <a:solidFill>
                <a:schemeClr val="bg1"/>
              </a:solidFill>
            </a:endParaRPr>
          </a:p>
        </p:txBody>
      </p:sp>
      <p:sp>
        <p:nvSpPr>
          <p:cNvPr id="8" name="TextBox 7">
            <a:extLst>
              <a:ext uri="{FF2B5EF4-FFF2-40B4-BE49-F238E27FC236}">
                <a16:creationId xmlns:a16="http://schemas.microsoft.com/office/drawing/2014/main" id="{59555D10-79EE-4EFC-AA62-0E39A596D25B}"/>
              </a:ext>
            </a:extLst>
          </p:cNvPr>
          <p:cNvSpPr txBox="1"/>
          <p:nvPr/>
        </p:nvSpPr>
        <p:spPr>
          <a:xfrm>
            <a:off x="391093" y="774970"/>
            <a:ext cx="114377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a:solidFill>
                  <a:srgbClr val="171717"/>
                </a:solidFill>
                <a:effectLst/>
              </a:rPr>
              <a:t>Create 5 variables in Integration Services Project to capture run-time values and implemented them on each Data Flow. Local variable is an object can hold a single data value of a specific type. Variables in batches and scripts are typically used as a counter either to count the number of times a loop is performed or to control how many times the loop is performed.</a:t>
            </a:r>
          </a:p>
        </p:txBody>
      </p:sp>
      <p:pic>
        <p:nvPicPr>
          <p:cNvPr id="5" name="Picture 4">
            <a:extLst>
              <a:ext uri="{FF2B5EF4-FFF2-40B4-BE49-F238E27FC236}">
                <a16:creationId xmlns:a16="http://schemas.microsoft.com/office/drawing/2014/main" id="{41C94873-F005-4B76-874A-1600A8EBC722}"/>
              </a:ext>
            </a:extLst>
          </p:cNvPr>
          <p:cNvPicPr>
            <a:picLocks noChangeAspect="1"/>
          </p:cNvPicPr>
          <p:nvPr/>
        </p:nvPicPr>
        <p:blipFill>
          <a:blip r:embed="rId2"/>
          <a:stretch>
            <a:fillRect/>
          </a:stretch>
        </p:blipFill>
        <p:spPr>
          <a:xfrm>
            <a:off x="391093" y="1818651"/>
            <a:ext cx="5704907" cy="1621066"/>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9CD543F5-CCEE-4B57-BFEB-7BAEB9A74C9A}"/>
              </a:ext>
            </a:extLst>
          </p:cNvPr>
          <p:cNvPicPr>
            <a:picLocks noChangeAspect="1"/>
          </p:cNvPicPr>
          <p:nvPr/>
        </p:nvPicPr>
        <p:blipFill>
          <a:blip r:embed="rId3"/>
          <a:stretch>
            <a:fillRect/>
          </a:stretch>
        </p:blipFill>
        <p:spPr>
          <a:xfrm>
            <a:off x="6406374" y="2226899"/>
            <a:ext cx="5422460" cy="4569344"/>
          </a:xfrm>
          <a:prstGeom prst="rect">
            <a:avLst/>
          </a:prstGeom>
        </p:spPr>
      </p:pic>
      <p:sp>
        <p:nvSpPr>
          <p:cNvPr id="11" name="TextBox 10">
            <a:extLst>
              <a:ext uri="{FF2B5EF4-FFF2-40B4-BE49-F238E27FC236}">
                <a16:creationId xmlns:a16="http://schemas.microsoft.com/office/drawing/2014/main" id="{CDAABD44-40FA-4AF8-8933-48C6893C7064}"/>
              </a:ext>
            </a:extLst>
          </p:cNvPr>
          <p:cNvSpPr txBox="1"/>
          <p:nvPr/>
        </p:nvSpPr>
        <p:spPr>
          <a:xfrm>
            <a:off x="377129" y="3835941"/>
            <a:ext cx="57049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a:solidFill>
                  <a:srgbClr val="171717"/>
                </a:solidFill>
                <a:effectLst/>
              </a:rPr>
              <a:t>Add a new Execute SQL Task under each dimension load Sequence container with the following SQL Statement</a:t>
            </a:r>
          </a:p>
          <a:p>
            <a:pPr algn="l"/>
            <a:endParaRPr lang="en-US" sz="1600">
              <a:solidFill>
                <a:srgbClr val="171717"/>
              </a:solidFill>
              <a:latin typeface="Courier New" panose="02070309020205020404" pitchFamily="49" charset="0"/>
            </a:endParaRPr>
          </a:p>
          <a:p>
            <a:pPr algn="l"/>
            <a:r>
              <a:rPr lang="en-US" sz="1600" b="0" i="0">
                <a:effectLst/>
                <a:latin typeface="Courier New" panose="02070309020205020404" pitchFamily="49" charset="0"/>
              </a:rPr>
              <a:t>EXEC</a:t>
            </a:r>
            <a:r>
              <a:rPr lang="en-US" sz="1600" b="0" i="0">
                <a:solidFill>
                  <a:srgbClr val="000000"/>
                </a:solidFill>
                <a:effectLst/>
                <a:latin typeface="Courier New" panose="02070309020205020404" pitchFamily="49" charset="0"/>
              </a:rPr>
              <a:t> </a:t>
            </a:r>
            <a:r>
              <a:rPr lang="en-US" sz="1600" b="1" i="0" err="1">
                <a:effectLst/>
                <a:latin typeface="Courier New" panose="02070309020205020404" pitchFamily="49" charset="0"/>
              </a:rPr>
              <a:t>SPR_InsertDQRule</a:t>
            </a:r>
            <a:r>
              <a:rPr lang="en-US" sz="1600" b="1" i="0">
                <a:effectLst/>
                <a:latin typeface="Courier New" panose="02070309020205020404" pitchFamily="49" charset="0"/>
              </a:rPr>
              <a:t> </a:t>
            </a:r>
            <a:r>
              <a:rPr lang="en-US" sz="1600" b="0" i="0">
                <a:effectLst/>
                <a:latin typeface="Courier New" panose="02070309020205020404" pitchFamily="49" charset="0"/>
              </a:rPr>
              <a:t>?,?,?,?,?,?,?</a:t>
            </a:r>
            <a:r>
              <a:rPr lang="en-US" sz="1600" b="0" i="0">
                <a:solidFill>
                  <a:srgbClr val="000000"/>
                </a:solidFill>
                <a:effectLst/>
                <a:latin typeface="Courier New" panose="02070309020205020404" pitchFamily="49" charset="0"/>
              </a:rPr>
              <a:t> </a:t>
            </a:r>
            <a:endParaRPr lang="en-US" sz="1600" b="0" i="0">
              <a:solidFill>
                <a:srgbClr val="171717"/>
              </a:solidFill>
              <a:effectLst/>
            </a:endParaRPr>
          </a:p>
        </p:txBody>
      </p:sp>
    </p:spTree>
    <p:extLst>
      <p:ext uri="{BB962C8B-B14F-4D97-AF65-F5344CB8AC3E}">
        <p14:creationId xmlns:p14="http://schemas.microsoft.com/office/powerpoint/2010/main" val="289765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Implementing Variables </a:t>
            </a:r>
            <a:r>
              <a:rPr lang="en-US" sz="1600">
                <a:solidFill>
                  <a:schemeClr val="bg1"/>
                </a:solidFill>
                <a:latin typeface="Calibri"/>
                <a:ea typeface="Times New Roman" panose="02020603050405020304" pitchFamily="18" charset="0"/>
                <a:cs typeface="Calibri"/>
              </a:rPr>
              <a:t>(</a:t>
            </a:r>
            <a:r>
              <a:rPr lang="en-US" sz="1200">
                <a:solidFill>
                  <a:schemeClr val="bg1"/>
                </a:solidFill>
                <a:latin typeface="Calibri"/>
                <a:ea typeface="Times New Roman" panose="02020603050405020304" pitchFamily="18" charset="0"/>
                <a:cs typeface="Calibri"/>
              </a:rPr>
              <a:t>contd.</a:t>
            </a:r>
            <a:r>
              <a:rPr lang="en-US" sz="1600">
                <a:solidFill>
                  <a:schemeClr val="bg1"/>
                </a:solidFill>
                <a:latin typeface="Calibri"/>
                <a:ea typeface="Times New Roman" panose="02020603050405020304" pitchFamily="18" charset="0"/>
                <a:cs typeface="Calibri"/>
              </a:rPr>
              <a:t>)</a:t>
            </a:r>
            <a:endParaRPr lang="en-US">
              <a:solidFill>
                <a:schemeClr val="bg1"/>
              </a:solidFill>
            </a:endParaRPr>
          </a:p>
        </p:txBody>
      </p:sp>
      <p:sp>
        <p:nvSpPr>
          <p:cNvPr id="8" name="TextBox 7">
            <a:extLst>
              <a:ext uri="{FF2B5EF4-FFF2-40B4-BE49-F238E27FC236}">
                <a16:creationId xmlns:a16="http://schemas.microsoft.com/office/drawing/2014/main" id="{59555D10-79EE-4EFC-AA62-0E39A596D25B}"/>
              </a:ext>
            </a:extLst>
          </p:cNvPr>
          <p:cNvSpPr txBox="1"/>
          <p:nvPr/>
        </p:nvSpPr>
        <p:spPr>
          <a:xfrm>
            <a:off x="391093" y="774970"/>
            <a:ext cx="11437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a:solidFill>
                  <a:srgbClr val="171717"/>
                </a:solidFill>
                <a:effectLst/>
              </a:rPr>
              <a:t>Map variables into the Parameter Mapping section of the Execute SQL Task. Variables must be mapped in the same order as they are expected</a:t>
            </a:r>
          </a:p>
        </p:txBody>
      </p:sp>
      <p:pic>
        <p:nvPicPr>
          <p:cNvPr id="5" name="Picture 4">
            <a:extLst>
              <a:ext uri="{FF2B5EF4-FFF2-40B4-BE49-F238E27FC236}">
                <a16:creationId xmlns:a16="http://schemas.microsoft.com/office/drawing/2014/main" id="{41C94873-F005-4B76-874A-1600A8EBC722}"/>
              </a:ext>
            </a:extLst>
          </p:cNvPr>
          <p:cNvPicPr>
            <a:picLocks noChangeAspect="1"/>
          </p:cNvPicPr>
          <p:nvPr/>
        </p:nvPicPr>
        <p:blipFill>
          <a:blip r:embed="rId2"/>
          <a:stretch>
            <a:fillRect/>
          </a:stretch>
        </p:blipFill>
        <p:spPr>
          <a:xfrm>
            <a:off x="391093" y="1818651"/>
            <a:ext cx="5704907" cy="1621066"/>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AF4D6039-308E-4F95-919E-75D3E7F4A1B9}"/>
              </a:ext>
            </a:extLst>
          </p:cNvPr>
          <p:cNvPicPr>
            <a:picLocks noChangeAspect="1"/>
          </p:cNvPicPr>
          <p:nvPr/>
        </p:nvPicPr>
        <p:blipFill>
          <a:blip r:embed="rId3"/>
          <a:stretch>
            <a:fillRect/>
          </a:stretch>
        </p:blipFill>
        <p:spPr>
          <a:xfrm>
            <a:off x="6287436" y="1814777"/>
            <a:ext cx="5053724" cy="4581246"/>
          </a:xfrm>
          <a:prstGeom prst="rect">
            <a:avLst/>
          </a:prstGeom>
        </p:spPr>
      </p:pic>
      <p:cxnSp>
        <p:nvCxnSpPr>
          <p:cNvPr id="9" name="Connector: Curved 8">
            <a:extLst>
              <a:ext uri="{FF2B5EF4-FFF2-40B4-BE49-F238E27FC236}">
                <a16:creationId xmlns:a16="http://schemas.microsoft.com/office/drawing/2014/main" id="{FCDB9168-11FF-4041-B3A6-21FF2BF29C13}"/>
              </a:ext>
            </a:extLst>
          </p:cNvPr>
          <p:cNvCxnSpPr>
            <a:cxnSpLocks/>
            <a:stCxn id="5" idx="2"/>
            <a:endCxn id="10" idx="1"/>
          </p:cNvCxnSpPr>
          <p:nvPr/>
        </p:nvCxnSpPr>
        <p:spPr>
          <a:xfrm rot="16200000" flipH="1">
            <a:off x="4432650" y="2250613"/>
            <a:ext cx="665683" cy="3043889"/>
          </a:xfrm>
          <a:prstGeom prst="curvedConnector2">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2230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Data Quality Framework </a:t>
            </a:r>
            <a:r>
              <a:rPr lang="en-US" sz="1300">
                <a:solidFill>
                  <a:schemeClr val="bg1"/>
                </a:solidFill>
                <a:latin typeface="Calibri"/>
                <a:ea typeface="Times New Roman" panose="02020603050405020304" pitchFamily="18" charset="0"/>
                <a:cs typeface="Calibri"/>
              </a:rPr>
              <a:t>(Output)</a:t>
            </a:r>
            <a:endParaRPr lang="en-US">
              <a:solidFill>
                <a:schemeClr val="bg1"/>
              </a:solidFill>
            </a:endParaRPr>
          </a:p>
        </p:txBody>
      </p:sp>
      <p:pic>
        <p:nvPicPr>
          <p:cNvPr id="5" name="Picture 4">
            <a:extLst>
              <a:ext uri="{FF2B5EF4-FFF2-40B4-BE49-F238E27FC236}">
                <a16:creationId xmlns:a16="http://schemas.microsoft.com/office/drawing/2014/main" id="{C9561DD9-B5C0-43C3-AA90-8B1857150094}"/>
              </a:ext>
            </a:extLst>
          </p:cNvPr>
          <p:cNvPicPr>
            <a:picLocks noChangeAspect="1"/>
          </p:cNvPicPr>
          <p:nvPr/>
        </p:nvPicPr>
        <p:blipFill>
          <a:blip r:embed="rId2"/>
          <a:stretch>
            <a:fillRect/>
          </a:stretch>
        </p:blipFill>
        <p:spPr>
          <a:xfrm>
            <a:off x="446054" y="2512471"/>
            <a:ext cx="11144250" cy="2009775"/>
          </a:xfrm>
          <a:prstGeom prst="rect">
            <a:avLst/>
          </a:prstGeom>
        </p:spPr>
      </p:pic>
      <p:sp>
        <p:nvSpPr>
          <p:cNvPr id="3" name="TextBox 2">
            <a:extLst>
              <a:ext uri="{FF2B5EF4-FFF2-40B4-BE49-F238E27FC236}">
                <a16:creationId xmlns:a16="http://schemas.microsoft.com/office/drawing/2014/main" id="{E19FE6CC-B091-4CA8-A67E-B0CAC0FA17B2}"/>
              </a:ext>
            </a:extLst>
          </p:cNvPr>
          <p:cNvSpPr txBox="1"/>
          <p:nvPr/>
        </p:nvSpPr>
        <p:spPr>
          <a:xfrm>
            <a:off x="446054" y="1485900"/>
            <a:ext cx="3473130" cy="369332"/>
          </a:xfrm>
          <a:prstGeom prst="rect">
            <a:avLst/>
          </a:prstGeom>
          <a:noFill/>
        </p:spPr>
        <p:txBody>
          <a:bodyPr wrap="none" rtlCol="0">
            <a:spAutoFit/>
          </a:bodyPr>
          <a:lstStyle/>
          <a:p>
            <a:r>
              <a:rPr lang="en-US"/>
              <a:t>Sample Output from DQ Rule Table</a:t>
            </a:r>
          </a:p>
        </p:txBody>
      </p:sp>
    </p:spTree>
    <p:extLst>
      <p:ext uri="{BB962C8B-B14F-4D97-AF65-F5344CB8AC3E}">
        <p14:creationId xmlns:p14="http://schemas.microsoft.com/office/powerpoint/2010/main" val="2973547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Capturing Data into Variables </a:t>
            </a:r>
            <a:r>
              <a:rPr lang="en-US" sz="1600">
                <a:solidFill>
                  <a:schemeClr val="bg1"/>
                </a:solidFill>
                <a:latin typeface="Calibri"/>
                <a:ea typeface="Times New Roman" panose="02020603050405020304" pitchFamily="18" charset="0"/>
                <a:cs typeface="Calibri"/>
              </a:rPr>
              <a:t>(DQ RULES)</a:t>
            </a:r>
            <a:endParaRPr lang="en-US">
              <a:solidFill>
                <a:schemeClr val="bg1"/>
              </a:solidFill>
            </a:endParaRPr>
          </a:p>
        </p:txBody>
      </p:sp>
      <p:pic>
        <p:nvPicPr>
          <p:cNvPr id="7" name="Picture 6">
            <a:extLst>
              <a:ext uri="{FF2B5EF4-FFF2-40B4-BE49-F238E27FC236}">
                <a16:creationId xmlns:a16="http://schemas.microsoft.com/office/drawing/2014/main" id="{BEE58A4F-A1D2-443B-B2F3-90FD2FB78E44}"/>
              </a:ext>
            </a:extLst>
          </p:cNvPr>
          <p:cNvPicPr>
            <a:picLocks noChangeAspect="1"/>
          </p:cNvPicPr>
          <p:nvPr/>
        </p:nvPicPr>
        <p:blipFill>
          <a:blip r:embed="rId2"/>
          <a:stretch>
            <a:fillRect/>
          </a:stretch>
        </p:blipFill>
        <p:spPr>
          <a:xfrm>
            <a:off x="1955259" y="904328"/>
            <a:ext cx="8516971" cy="5590358"/>
          </a:xfrm>
          <a:prstGeom prst="rect">
            <a:avLst/>
          </a:prstGeom>
          <a:effectLst>
            <a:outerShdw blurRad="50800" dist="38100" dir="2700000" algn="tl" rotWithShape="0">
              <a:prstClr val="black">
                <a:alpha val="40000"/>
              </a:prstClr>
            </a:outerShdw>
          </a:effectLst>
        </p:spPr>
      </p:pic>
      <p:sp>
        <p:nvSpPr>
          <p:cNvPr id="9" name="TextBox 8">
            <a:extLst>
              <a:ext uri="{FF2B5EF4-FFF2-40B4-BE49-F238E27FC236}">
                <a16:creationId xmlns:a16="http://schemas.microsoft.com/office/drawing/2014/main" id="{D070200D-436D-46B4-A501-41C026723861}"/>
              </a:ext>
            </a:extLst>
          </p:cNvPr>
          <p:cNvSpPr txBox="1"/>
          <p:nvPr/>
        </p:nvSpPr>
        <p:spPr>
          <a:xfrm>
            <a:off x="564204" y="3105834"/>
            <a:ext cx="1731523" cy="307777"/>
          </a:xfrm>
          <a:prstGeom prst="rect">
            <a:avLst/>
          </a:prstGeom>
          <a:noFill/>
        </p:spPr>
        <p:txBody>
          <a:bodyPr wrap="square" rtlCol="0">
            <a:spAutoFit/>
          </a:bodyPr>
          <a:lstStyle/>
          <a:p>
            <a:r>
              <a:rPr lang="en-US" sz="1400">
                <a:solidFill>
                  <a:srgbClr val="FF0000"/>
                </a:solidFill>
              </a:rPr>
              <a:t>Source Row Count</a:t>
            </a:r>
          </a:p>
        </p:txBody>
      </p:sp>
      <p:sp>
        <p:nvSpPr>
          <p:cNvPr id="10" name="TextBox 9">
            <a:extLst>
              <a:ext uri="{FF2B5EF4-FFF2-40B4-BE49-F238E27FC236}">
                <a16:creationId xmlns:a16="http://schemas.microsoft.com/office/drawing/2014/main" id="{EB289915-E46C-401F-9FE2-6B7E3D0DB2E0}"/>
              </a:ext>
            </a:extLst>
          </p:cNvPr>
          <p:cNvSpPr txBox="1"/>
          <p:nvPr/>
        </p:nvSpPr>
        <p:spPr>
          <a:xfrm>
            <a:off x="1533728" y="5729059"/>
            <a:ext cx="1511029" cy="523220"/>
          </a:xfrm>
          <a:prstGeom prst="rect">
            <a:avLst/>
          </a:prstGeom>
          <a:noFill/>
        </p:spPr>
        <p:txBody>
          <a:bodyPr wrap="square" rtlCol="0">
            <a:spAutoFit/>
          </a:bodyPr>
          <a:lstStyle/>
          <a:p>
            <a:r>
              <a:rPr lang="en-US" sz="1400">
                <a:solidFill>
                  <a:srgbClr val="FF0000"/>
                </a:solidFill>
              </a:rPr>
              <a:t>Update Row Count</a:t>
            </a:r>
          </a:p>
        </p:txBody>
      </p:sp>
      <p:sp>
        <p:nvSpPr>
          <p:cNvPr id="11" name="TextBox 10">
            <a:extLst>
              <a:ext uri="{FF2B5EF4-FFF2-40B4-BE49-F238E27FC236}">
                <a16:creationId xmlns:a16="http://schemas.microsoft.com/office/drawing/2014/main" id="{2485D798-8576-4628-B458-A1D8095B79F5}"/>
              </a:ext>
            </a:extLst>
          </p:cNvPr>
          <p:cNvSpPr txBox="1"/>
          <p:nvPr/>
        </p:nvSpPr>
        <p:spPr>
          <a:xfrm>
            <a:off x="8009107" y="5229706"/>
            <a:ext cx="1511029" cy="307777"/>
          </a:xfrm>
          <a:prstGeom prst="rect">
            <a:avLst/>
          </a:prstGeom>
          <a:noFill/>
        </p:spPr>
        <p:txBody>
          <a:bodyPr wrap="square" rtlCol="0">
            <a:spAutoFit/>
          </a:bodyPr>
          <a:lstStyle/>
          <a:p>
            <a:r>
              <a:rPr lang="en-US" sz="1400">
                <a:solidFill>
                  <a:srgbClr val="FF0000"/>
                </a:solidFill>
              </a:rPr>
              <a:t>Insert Row Count</a:t>
            </a:r>
          </a:p>
        </p:txBody>
      </p:sp>
      <p:sp>
        <p:nvSpPr>
          <p:cNvPr id="12" name="TextBox 11">
            <a:extLst>
              <a:ext uri="{FF2B5EF4-FFF2-40B4-BE49-F238E27FC236}">
                <a16:creationId xmlns:a16="http://schemas.microsoft.com/office/drawing/2014/main" id="{59CC9083-C92F-4745-866E-587D424A047F}"/>
              </a:ext>
            </a:extLst>
          </p:cNvPr>
          <p:cNvSpPr txBox="1"/>
          <p:nvPr/>
        </p:nvSpPr>
        <p:spPr>
          <a:xfrm>
            <a:off x="7359212" y="2182504"/>
            <a:ext cx="1731522" cy="523220"/>
          </a:xfrm>
          <a:prstGeom prst="rect">
            <a:avLst/>
          </a:prstGeom>
          <a:noFill/>
        </p:spPr>
        <p:txBody>
          <a:bodyPr wrap="square" rtlCol="0">
            <a:spAutoFit/>
          </a:bodyPr>
          <a:lstStyle/>
          <a:p>
            <a:r>
              <a:rPr lang="en-US" sz="1400">
                <a:solidFill>
                  <a:srgbClr val="FF0000"/>
                </a:solidFill>
              </a:rPr>
              <a:t>Error (DQ Rule Failure) Row Count</a:t>
            </a:r>
          </a:p>
        </p:txBody>
      </p:sp>
      <p:cxnSp>
        <p:nvCxnSpPr>
          <p:cNvPr id="14" name="Connector: Curved 13">
            <a:extLst>
              <a:ext uri="{FF2B5EF4-FFF2-40B4-BE49-F238E27FC236}">
                <a16:creationId xmlns:a16="http://schemas.microsoft.com/office/drawing/2014/main" id="{8798F720-D10A-4DFD-A4B1-0653CD0FB3CB}"/>
              </a:ext>
            </a:extLst>
          </p:cNvPr>
          <p:cNvCxnSpPr>
            <a:cxnSpLocks/>
          </p:cNvCxnSpPr>
          <p:nvPr/>
        </p:nvCxnSpPr>
        <p:spPr>
          <a:xfrm rot="5400000">
            <a:off x="7881027" y="2978286"/>
            <a:ext cx="389106" cy="132942"/>
          </a:xfrm>
          <a:prstGeom prst="curvedConnector3">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6" name="Connector: Curved 15">
            <a:extLst>
              <a:ext uri="{FF2B5EF4-FFF2-40B4-BE49-F238E27FC236}">
                <a16:creationId xmlns:a16="http://schemas.microsoft.com/office/drawing/2014/main" id="{7E0EBF78-6DC4-4B8C-8D40-5E7CB7F81AD1}"/>
              </a:ext>
            </a:extLst>
          </p:cNvPr>
          <p:cNvCxnSpPr>
            <a:cxnSpLocks/>
          </p:cNvCxnSpPr>
          <p:nvPr/>
        </p:nvCxnSpPr>
        <p:spPr>
          <a:xfrm flipV="1">
            <a:off x="1305126" y="3428999"/>
            <a:ext cx="1136517" cy="111869"/>
          </a:xfrm>
          <a:prstGeom prst="curvedConnector3">
            <a:avLst>
              <a:gd name="adj1" fmla="val 5599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1" name="Connector: Curved 20">
            <a:extLst>
              <a:ext uri="{FF2B5EF4-FFF2-40B4-BE49-F238E27FC236}">
                <a16:creationId xmlns:a16="http://schemas.microsoft.com/office/drawing/2014/main" id="{E985D425-5A12-448C-BA0D-359695883B04}"/>
              </a:ext>
            </a:extLst>
          </p:cNvPr>
          <p:cNvCxnSpPr>
            <a:cxnSpLocks/>
            <a:stCxn id="10" idx="0"/>
          </p:cNvCxnSpPr>
          <p:nvPr/>
        </p:nvCxnSpPr>
        <p:spPr>
          <a:xfrm rot="5400000" flipH="1" flipV="1">
            <a:off x="2700576" y="5086562"/>
            <a:ext cx="231164" cy="1053830"/>
          </a:xfrm>
          <a:prstGeom prst="curvedConnector2">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3" name="Connector: Curved 22">
            <a:extLst>
              <a:ext uri="{FF2B5EF4-FFF2-40B4-BE49-F238E27FC236}">
                <a16:creationId xmlns:a16="http://schemas.microsoft.com/office/drawing/2014/main" id="{5B297505-5DCF-477F-AC98-C4FCDC943A22}"/>
              </a:ext>
            </a:extLst>
          </p:cNvPr>
          <p:cNvCxnSpPr>
            <a:cxnSpLocks/>
            <a:stCxn id="11" idx="1"/>
          </p:cNvCxnSpPr>
          <p:nvPr/>
        </p:nvCxnSpPr>
        <p:spPr>
          <a:xfrm rot="10800000" flipV="1">
            <a:off x="7455629" y="5383594"/>
            <a:ext cx="553478" cy="229881"/>
          </a:xfrm>
          <a:prstGeom prst="curvedConnector3">
            <a:avLst>
              <a:gd name="adj1" fmla="val 50000"/>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53336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a:solidFill>
                  <a:schemeClr val="bg1"/>
                </a:solidFill>
                <a:latin typeface="Calibri"/>
                <a:ea typeface="Times New Roman" panose="02020603050405020304" pitchFamily="18" charset="0"/>
                <a:cs typeface="Calibri"/>
              </a:rPr>
              <a:t>Questions?</a:t>
            </a:r>
            <a:endParaRPr lang="en-US">
              <a:solidFill>
                <a:schemeClr val="bg1"/>
              </a:solidFill>
            </a:endParaRPr>
          </a:p>
        </p:txBody>
      </p:sp>
      <p:grpSp>
        <p:nvGrpSpPr>
          <p:cNvPr id="7" name="Graphic 5" descr="Thought outline">
            <a:extLst>
              <a:ext uri="{FF2B5EF4-FFF2-40B4-BE49-F238E27FC236}">
                <a16:creationId xmlns:a16="http://schemas.microsoft.com/office/drawing/2014/main" id="{ED564139-D4F8-45E5-86C4-C319F3D10D23}"/>
              </a:ext>
            </a:extLst>
          </p:cNvPr>
          <p:cNvGrpSpPr/>
          <p:nvPr/>
        </p:nvGrpSpPr>
        <p:grpSpPr>
          <a:xfrm>
            <a:off x="3338004" y="1111018"/>
            <a:ext cx="4696287" cy="4452287"/>
            <a:chOff x="5686607" y="3009900"/>
            <a:chExt cx="818967" cy="839846"/>
          </a:xfrm>
          <a:solidFill>
            <a:schemeClr val="accent1"/>
          </a:solidFill>
        </p:grpSpPr>
        <p:sp>
          <p:nvSpPr>
            <p:cNvPr id="8" name="Freeform: Shape 7">
              <a:extLst>
                <a:ext uri="{FF2B5EF4-FFF2-40B4-BE49-F238E27FC236}">
                  <a16:creationId xmlns:a16="http://schemas.microsoft.com/office/drawing/2014/main" id="{D5596E42-EDCB-40BC-B3BF-BB36265C52BA}"/>
                </a:ext>
              </a:extLst>
            </p:cNvPr>
            <p:cNvSpPr/>
            <p:nvPr/>
          </p:nvSpPr>
          <p:spPr>
            <a:xfrm>
              <a:off x="6223371" y="3513887"/>
              <a:ext cx="282203" cy="335859"/>
            </a:xfrm>
            <a:custGeom>
              <a:avLst/>
              <a:gdLst>
                <a:gd name="connsiteX0" fmla="*/ 157515 w 282203"/>
                <a:gd name="connsiteY0" fmla="*/ 19050 h 335859"/>
                <a:gd name="connsiteX1" fmla="*/ 263045 w 282203"/>
                <a:gd name="connsiteY1" fmla="*/ 120015 h 335859"/>
                <a:gd name="connsiteX2" fmla="*/ 263045 w 282203"/>
                <a:gd name="connsiteY2" fmla="*/ 129615 h 335859"/>
                <a:gd name="connsiteX3" fmla="*/ 263023 w 282203"/>
                <a:gd name="connsiteY3" fmla="*/ 130091 h 335859"/>
                <a:gd name="connsiteX4" fmla="*/ 263023 w 282203"/>
                <a:gd name="connsiteY4" fmla="*/ 130568 h 335859"/>
                <a:gd name="connsiteX5" fmla="*/ 221487 w 282203"/>
                <a:gd name="connsiteY5" fmla="*/ 215852 h 335859"/>
                <a:gd name="connsiteX6" fmla="*/ 214119 w 282203"/>
                <a:gd name="connsiteY6" fmla="*/ 221567 h 335859"/>
                <a:gd name="connsiteX7" fmla="*/ 214119 w 282203"/>
                <a:gd name="connsiteY7" fmla="*/ 316812 h 335859"/>
                <a:gd name="connsiteX8" fmla="*/ 121136 w 282203"/>
                <a:gd name="connsiteY8" fmla="*/ 316812 h 335859"/>
                <a:gd name="connsiteX9" fmla="*/ 121136 w 282203"/>
                <a:gd name="connsiteY9" fmla="*/ 267026 h 335859"/>
                <a:gd name="connsiteX10" fmla="*/ 82868 w 282203"/>
                <a:gd name="connsiteY10" fmla="*/ 267026 h 335859"/>
                <a:gd name="connsiteX11" fmla="*/ 64932 w 282203"/>
                <a:gd name="connsiteY11" fmla="*/ 261868 h 335859"/>
                <a:gd name="connsiteX12" fmla="*/ 51856 w 282203"/>
                <a:gd name="connsiteY12" fmla="*/ 237112 h 335859"/>
                <a:gd name="connsiteX13" fmla="*/ 51856 w 282203"/>
                <a:gd name="connsiteY13" fmla="*/ 236598 h 335859"/>
                <a:gd name="connsiteX14" fmla="*/ 51856 w 282203"/>
                <a:gd name="connsiteY14" fmla="*/ 211388 h 335859"/>
                <a:gd name="connsiteX15" fmla="*/ 51856 w 282203"/>
                <a:gd name="connsiteY15" fmla="*/ 192338 h 335859"/>
                <a:gd name="connsiteX16" fmla="*/ 20566 w 282203"/>
                <a:gd name="connsiteY16" fmla="*/ 192338 h 335859"/>
                <a:gd name="connsiteX17" fmla="*/ 20484 w 282203"/>
                <a:gd name="connsiteY17" fmla="*/ 192195 h 335859"/>
                <a:gd name="connsiteX18" fmla="*/ 49280 w 282203"/>
                <a:gd name="connsiteY18" fmla="*/ 142029 h 335859"/>
                <a:gd name="connsiteX19" fmla="*/ 51808 w 282203"/>
                <a:gd name="connsiteY19" fmla="*/ 137625 h 335859"/>
                <a:gd name="connsiteX20" fmla="*/ 51808 w 282203"/>
                <a:gd name="connsiteY20" fmla="*/ 130047 h 335859"/>
                <a:gd name="connsiteX21" fmla="*/ 51794 w 282203"/>
                <a:gd name="connsiteY21" fmla="*/ 129615 h 335859"/>
                <a:gd name="connsiteX22" fmla="*/ 152621 w 282203"/>
                <a:gd name="connsiteY22" fmla="*/ 19161 h 335859"/>
                <a:gd name="connsiteX23" fmla="*/ 157515 w 282203"/>
                <a:gd name="connsiteY23" fmla="*/ 19050 h 335859"/>
                <a:gd name="connsiteX24" fmla="*/ 151756 w 282203"/>
                <a:gd name="connsiteY24" fmla="*/ 130 h 335859"/>
                <a:gd name="connsiteX25" fmla="*/ 32765 w 282203"/>
                <a:gd name="connsiteY25" fmla="*/ 130479 h 335859"/>
                <a:gd name="connsiteX26" fmla="*/ 32765 w 282203"/>
                <a:gd name="connsiteY26" fmla="*/ 132547 h 335859"/>
                <a:gd name="connsiteX27" fmla="*/ 4190 w 282203"/>
                <a:gd name="connsiteY27" fmla="*/ 182338 h 335859"/>
                <a:gd name="connsiteX28" fmla="*/ 14562 w 282203"/>
                <a:gd name="connsiteY28" fmla="*/ 211389 h 335859"/>
                <a:gd name="connsiteX29" fmla="*/ 32813 w 282203"/>
                <a:gd name="connsiteY29" fmla="*/ 211389 h 335859"/>
                <a:gd name="connsiteX30" fmla="*/ 32813 w 282203"/>
                <a:gd name="connsiteY30" fmla="*/ 236323 h 335859"/>
                <a:gd name="connsiteX31" fmla="*/ 32807 w 282203"/>
                <a:gd name="connsiteY31" fmla="*/ 237111 h 335859"/>
                <a:gd name="connsiteX32" fmla="*/ 81755 w 282203"/>
                <a:gd name="connsiteY32" fmla="*/ 286077 h 335859"/>
                <a:gd name="connsiteX33" fmla="*/ 102086 w 282203"/>
                <a:gd name="connsiteY33" fmla="*/ 286077 h 335859"/>
                <a:gd name="connsiteX34" fmla="*/ 102086 w 282203"/>
                <a:gd name="connsiteY34" fmla="*/ 335859 h 335859"/>
                <a:gd name="connsiteX35" fmla="*/ 233171 w 282203"/>
                <a:gd name="connsiteY35" fmla="*/ 335859 h 335859"/>
                <a:gd name="connsiteX36" fmla="*/ 233171 w 282203"/>
                <a:gd name="connsiteY36" fmla="*/ 230894 h 335859"/>
                <a:gd name="connsiteX37" fmla="*/ 282075 w 282203"/>
                <a:gd name="connsiteY37" fmla="*/ 130482 h 335859"/>
                <a:gd name="connsiteX38" fmla="*/ 282075 w 282203"/>
                <a:gd name="connsiteY38" fmla="*/ 119153 h 335859"/>
                <a:gd name="connsiteX39" fmla="*/ 157515 w 282203"/>
                <a:gd name="connsiteY39" fmla="*/ 0 h 335859"/>
                <a:gd name="connsiteX40" fmla="*/ 151756 w 282203"/>
                <a:gd name="connsiteY40" fmla="*/ 130 h 33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82203" h="335859">
                  <a:moveTo>
                    <a:pt x="157515" y="19050"/>
                  </a:moveTo>
                  <a:cubicBezTo>
                    <a:pt x="214062" y="18995"/>
                    <a:pt x="260601" y="63521"/>
                    <a:pt x="263045" y="120015"/>
                  </a:cubicBezTo>
                  <a:cubicBezTo>
                    <a:pt x="263190" y="123199"/>
                    <a:pt x="263190" y="126429"/>
                    <a:pt x="263045" y="129615"/>
                  </a:cubicBezTo>
                  <a:lnTo>
                    <a:pt x="263023" y="130091"/>
                  </a:lnTo>
                  <a:lnTo>
                    <a:pt x="263023" y="130568"/>
                  </a:lnTo>
                  <a:cubicBezTo>
                    <a:pt x="261296" y="163447"/>
                    <a:pt x="246308" y="194220"/>
                    <a:pt x="221487" y="215852"/>
                  </a:cubicBezTo>
                  <a:lnTo>
                    <a:pt x="214119" y="221567"/>
                  </a:lnTo>
                  <a:lnTo>
                    <a:pt x="214119" y="316812"/>
                  </a:lnTo>
                  <a:lnTo>
                    <a:pt x="121136" y="316812"/>
                  </a:lnTo>
                  <a:lnTo>
                    <a:pt x="121136" y="267026"/>
                  </a:lnTo>
                  <a:lnTo>
                    <a:pt x="82868" y="267026"/>
                  </a:lnTo>
                  <a:cubicBezTo>
                    <a:pt x="76504" y="267166"/>
                    <a:pt x="70249" y="265367"/>
                    <a:pt x="64932" y="261868"/>
                  </a:cubicBezTo>
                  <a:cubicBezTo>
                    <a:pt x="56740" y="256293"/>
                    <a:pt x="51843" y="247020"/>
                    <a:pt x="51856" y="237112"/>
                  </a:cubicBezTo>
                  <a:lnTo>
                    <a:pt x="51856" y="236598"/>
                  </a:lnTo>
                  <a:lnTo>
                    <a:pt x="51856" y="211388"/>
                  </a:lnTo>
                  <a:lnTo>
                    <a:pt x="51856" y="192338"/>
                  </a:lnTo>
                  <a:lnTo>
                    <a:pt x="20566" y="192338"/>
                  </a:lnTo>
                  <a:cubicBezTo>
                    <a:pt x="20471" y="192338"/>
                    <a:pt x="20438" y="192274"/>
                    <a:pt x="20484" y="192195"/>
                  </a:cubicBezTo>
                  <a:lnTo>
                    <a:pt x="49280" y="142029"/>
                  </a:lnTo>
                  <a:lnTo>
                    <a:pt x="51808" y="137625"/>
                  </a:lnTo>
                  <a:lnTo>
                    <a:pt x="51808" y="130047"/>
                  </a:lnTo>
                  <a:lnTo>
                    <a:pt x="51794" y="129615"/>
                  </a:lnTo>
                  <a:cubicBezTo>
                    <a:pt x="49202" y="71296"/>
                    <a:pt x="94308" y="21885"/>
                    <a:pt x="152621" y="19161"/>
                  </a:cubicBezTo>
                  <a:cubicBezTo>
                    <a:pt x="154256" y="19087"/>
                    <a:pt x="155894" y="19050"/>
                    <a:pt x="157515" y="19050"/>
                  </a:cubicBezTo>
                  <a:close/>
                  <a:moveTo>
                    <a:pt x="151756" y="130"/>
                  </a:moveTo>
                  <a:cubicBezTo>
                    <a:pt x="82903" y="3268"/>
                    <a:pt x="29630" y="61627"/>
                    <a:pt x="32765" y="130479"/>
                  </a:cubicBezTo>
                  <a:lnTo>
                    <a:pt x="32765" y="132547"/>
                  </a:lnTo>
                  <a:lnTo>
                    <a:pt x="4190" y="182338"/>
                  </a:lnTo>
                  <a:cubicBezTo>
                    <a:pt x="-5765" y="197697"/>
                    <a:pt x="3771" y="210141"/>
                    <a:pt x="14562" y="211389"/>
                  </a:cubicBezTo>
                  <a:lnTo>
                    <a:pt x="32813" y="211389"/>
                  </a:lnTo>
                  <a:lnTo>
                    <a:pt x="32813" y="236323"/>
                  </a:lnTo>
                  <a:lnTo>
                    <a:pt x="32807" y="237111"/>
                  </a:lnTo>
                  <a:cubicBezTo>
                    <a:pt x="32803" y="264149"/>
                    <a:pt x="54717" y="286072"/>
                    <a:pt x="81755" y="286077"/>
                  </a:cubicBezTo>
                  <a:lnTo>
                    <a:pt x="102086" y="286077"/>
                  </a:lnTo>
                  <a:lnTo>
                    <a:pt x="102086" y="335859"/>
                  </a:lnTo>
                  <a:lnTo>
                    <a:pt x="233171" y="335859"/>
                  </a:lnTo>
                  <a:lnTo>
                    <a:pt x="233171" y="230894"/>
                  </a:lnTo>
                  <a:cubicBezTo>
                    <a:pt x="264174" y="206828"/>
                    <a:pt x="282242" y="169729"/>
                    <a:pt x="282075" y="130482"/>
                  </a:cubicBezTo>
                  <a:cubicBezTo>
                    <a:pt x="282246" y="126707"/>
                    <a:pt x="282246" y="122932"/>
                    <a:pt x="282075" y="119153"/>
                  </a:cubicBezTo>
                  <a:cubicBezTo>
                    <a:pt x="279060" y="52534"/>
                    <a:pt x="224202" y="57"/>
                    <a:pt x="157515" y="0"/>
                  </a:cubicBezTo>
                  <a:cubicBezTo>
                    <a:pt x="157515" y="0"/>
                    <a:pt x="153681" y="44"/>
                    <a:pt x="151756" y="130"/>
                  </a:cubicBez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DC5F1B2-4FA4-4104-9591-530CC798C0C9}"/>
                </a:ext>
              </a:extLst>
            </p:cNvPr>
            <p:cNvSpPr/>
            <p:nvPr/>
          </p:nvSpPr>
          <p:spPr>
            <a:xfrm>
              <a:off x="6190910" y="3537162"/>
              <a:ext cx="52473" cy="52478"/>
            </a:xfrm>
            <a:custGeom>
              <a:avLst/>
              <a:gdLst>
                <a:gd name="connsiteX0" fmla="*/ 26238 w 52473"/>
                <a:gd name="connsiteY0" fmla="*/ 19050 h 52478"/>
                <a:gd name="connsiteX1" fmla="*/ 33419 w 52473"/>
                <a:gd name="connsiteY1" fmla="*/ 26249 h 52478"/>
                <a:gd name="connsiteX2" fmla="*/ 26220 w 52473"/>
                <a:gd name="connsiteY2" fmla="*/ 33431 h 52478"/>
                <a:gd name="connsiteX3" fmla="*/ 24794 w 52473"/>
                <a:gd name="connsiteY3" fmla="*/ 33286 h 52478"/>
                <a:gd name="connsiteX4" fmla="*/ 19197 w 52473"/>
                <a:gd name="connsiteY4" fmla="*/ 27686 h 52478"/>
                <a:gd name="connsiteX5" fmla="*/ 24814 w 52473"/>
                <a:gd name="connsiteY5" fmla="*/ 19195 h 52478"/>
                <a:gd name="connsiteX6" fmla="*/ 26238 w 52473"/>
                <a:gd name="connsiteY6" fmla="*/ 19050 h 52478"/>
                <a:gd name="connsiteX7" fmla="*/ 26238 w 52473"/>
                <a:gd name="connsiteY7" fmla="*/ 0 h 52478"/>
                <a:gd name="connsiteX8" fmla="*/ 0 w 52473"/>
                <a:gd name="connsiteY8" fmla="*/ 26241 h 52478"/>
                <a:gd name="connsiteX9" fmla="*/ 26242 w 52473"/>
                <a:gd name="connsiteY9" fmla="*/ 52479 h 52478"/>
                <a:gd name="connsiteX10" fmla="*/ 27912 w 52473"/>
                <a:gd name="connsiteY10" fmla="*/ 52426 h 52478"/>
                <a:gd name="connsiteX11" fmla="*/ 52419 w 52473"/>
                <a:gd name="connsiteY11" fmla="*/ 27918 h 52478"/>
                <a:gd name="connsiteX12" fmla="*/ 27913 w 52473"/>
                <a:gd name="connsiteY12" fmla="*/ 53 h 52478"/>
                <a:gd name="connsiteX13" fmla="*/ 26238 w 52473"/>
                <a:gd name="connsiteY13" fmla="*/ 0 h 5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473" h="52478">
                  <a:moveTo>
                    <a:pt x="26238" y="19050"/>
                  </a:moveTo>
                  <a:cubicBezTo>
                    <a:pt x="30209" y="19055"/>
                    <a:pt x="33424" y="22278"/>
                    <a:pt x="33419" y="26249"/>
                  </a:cubicBezTo>
                  <a:cubicBezTo>
                    <a:pt x="33415" y="30220"/>
                    <a:pt x="30192" y="33436"/>
                    <a:pt x="26220" y="33431"/>
                  </a:cubicBezTo>
                  <a:cubicBezTo>
                    <a:pt x="25741" y="33430"/>
                    <a:pt x="25263" y="33381"/>
                    <a:pt x="24794" y="33286"/>
                  </a:cubicBezTo>
                  <a:cubicBezTo>
                    <a:pt x="22056" y="32563"/>
                    <a:pt x="19918" y="30425"/>
                    <a:pt x="19197" y="27686"/>
                  </a:cubicBezTo>
                  <a:cubicBezTo>
                    <a:pt x="18403" y="23791"/>
                    <a:pt x="20918" y="19989"/>
                    <a:pt x="24814" y="19195"/>
                  </a:cubicBezTo>
                  <a:cubicBezTo>
                    <a:pt x="25282" y="19100"/>
                    <a:pt x="25759" y="19051"/>
                    <a:pt x="26238" y="19050"/>
                  </a:cubicBezTo>
                  <a:moveTo>
                    <a:pt x="26238" y="0"/>
                  </a:moveTo>
                  <a:cubicBezTo>
                    <a:pt x="11746" y="1"/>
                    <a:pt x="-1" y="11750"/>
                    <a:pt x="0" y="26241"/>
                  </a:cubicBezTo>
                  <a:cubicBezTo>
                    <a:pt x="2" y="40734"/>
                    <a:pt x="11750" y="52480"/>
                    <a:pt x="26242" y="52479"/>
                  </a:cubicBezTo>
                  <a:cubicBezTo>
                    <a:pt x="26800" y="52479"/>
                    <a:pt x="27356" y="52461"/>
                    <a:pt x="27912" y="52426"/>
                  </a:cubicBezTo>
                  <a:cubicBezTo>
                    <a:pt x="40870" y="51125"/>
                    <a:pt x="51119" y="40876"/>
                    <a:pt x="52419" y="27918"/>
                  </a:cubicBezTo>
                  <a:cubicBezTo>
                    <a:pt x="53347" y="13456"/>
                    <a:pt x="42375" y="981"/>
                    <a:pt x="27913" y="53"/>
                  </a:cubicBezTo>
                  <a:cubicBezTo>
                    <a:pt x="27356" y="18"/>
                    <a:pt x="26797" y="0"/>
                    <a:pt x="26238" y="0"/>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13E109A-55CE-4794-9978-94C93ADC95FA}"/>
                </a:ext>
              </a:extLst>
            </p:cNvPr>
            <p:cNvSpPr/>
            <p:nvPr/>
          </p:nvSpPr>
          <p:spPr>
            <a:xfrm>
              <a:off x="6088976" y="3466294"/>
              <a:ext cx="91315" cy="91333"/>
            </a:xfrm>
            <a:custGeom>
              <a:avLst/>
              <a:gdLst>
                <a:gd name="connsiteX0" fmla="*/ 45663 w 91315"/>
                <a:gd name="connsiteY0" fmla="*/ 19051 h 91333"/>
                <a:gd name="connsiteX1" fmla="*/ 72264 w 91315"/>
                <a:gd name="connsiteY1" fmla="*/ 45683 h 91333"/>
                <a:gd name="connsiteX2" fmla="*/ 45632 w 91315"/>
                <a:gd name="connsiteY2" fmla="*/ 72284 h 91333"/>
                <a:gd name="connsiteX3" fmla="*/ 43948 w 91315"/>
                <a:gd name="connsiteY3" fmla="*/ 72230 h 91333"/>
                <a:gd name="connsiteX4" fmla="*/ 19108 w 91315"/>
                <a:gd name="connsiteY4" fmla="*/ 47390 h 91333"/>
                <a:gd name="connsiteX5" fmla="*/ 43996 w 91315"/>
                <a:gd name="connsiteY5" fmla="*/ 19105 h 91333"/>
                <a:gd name="connsiteX6" fmla="*/ 45659 w 91315"/>
                <a:gd name="connsiteY6" fmla="*/ 19051 h 91333"/>
                <a:gd name="connsiteX7" fmla="*/ 45381 w 91315"/>
                <a:gd name="connsiteY7" fmla="*/ 1 h 91333"/>
                <a:gd name="connsiteX8" fmla="*/ 1 w 91315"/>
                <a:gd name="connsiteY8" fmla="*/ 45952 h 91333"/>
                <a:gd name="connsiteX9" fmla="*/ 45952 w 91315"/>
                <a:gd name="connsiteY9" fmla="*/ 91332 h 91333"/>
                <a:gd name="connsiteX10" fmla="*/ 47437 w 91315"/>
                <a:gd name="connsiteY10" fmla="*/ 91299 h 91333"/>
                <a:gd name="connsiteX11" fmla="*/ 91280 w 91315"/>
                <a:gd name="connsiteY11" fmla="*/ 47455 h 91333"/>
                <a:gd name="connsiteX12" fmla="*/ 47447 w 91315"/>
                <a:gd name="connsiteY12" fmla="*/ 35 h 91333"/>
                <a:gd name="connsiteX13" fmla="*/ 45655 w 91315"/>
                <a:gd name="connsiteY13" fmla="*/ 0 h 9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315" h="91333">
                  <a:moveTo>
                    <a:pt x="45663" y="19051"/>
                  </a:moveTo>
                  <a:cubicBezTo>
                    <a:pt x="60363" y="19060"/>
                    <a:pt x="72273" y="30983"/>
                    <a:pt x="72264" y="45683"/>
                  </a:cubicBezTo>
                  <a:cubicBezTo>
                    <a:pt x="72256" y="60383"/>
                    <a:pt x="60332" y="72293"/>
                    <a:pt x="45632" y="72284"/>
                  </a:cubicBezTo>
                  <a:cubicBezTo>
                    <a:pt x="45070" y="72284"/>
                    <a:pt x="44508" y="72266"/>
                    <a:pt x="43948" y="72230"/>
                  </a:cubicBezTo>
                  <a:cubicBezTo>
                    <a:pt x="30821" y="70896"/>
                    <a:pt x="20442" y="60517"/>
                    <a:pt x="19108" y="47390"/>
                  </a:cubicBezTo>
                  <a:cubicBezTo>
                    <a:pt x="18170" y="32707"/>
                    <a:pt x="29313" y="20043"/>
                    <a:pt x="43996" y="19105"/>
                  </a:cubicBezTo>
                  <a:cubicBezTo>
                    <a:pt x="44549" y="19070"/>
                    <a:pt x="45105" y="19052"/>
                    <a:pt x="45659" y="19051"/>
                  </a:cubicBezTo>
                  <a:moveTo>
                    <a:pt x="45381" y="1"/>
                  </a:moveTo>
                  <a:cubicBezTo>
                    <a:pt x="20161" y="159"/>
                    <a:pt x="-157" y="20732"/>
                    <a:pt x="1" y="45952"/>
                  </a:cubicBezTo>
                  <a:cubicBezTo>
                    <a:pt x="158" y="71173"/>
                    <a:pt x="20731" y="91490"/>
                    <a:pt x="45952" y="91332"/>
                  </a:cubicBezTo>
                  <a:cubicBezTo>
                    <a:pt x="46448" y="91329"/>
                    <a:pt x="46942" y="91318"/>
                    <a:pt x="47437" y="91299"/>
                  </a:cubicBezTo>
                  <a:cubicBezTo>
                    <a:pt x="70976" y="89741"/>
                    <a:pt x="89723" y="70994"/>
                    <a:pt x="91280" y="47455"/>
                  </a:cubicBezTo>
                  <a:cubicBezTo>
                    <a:pt x="92271" y="22256"/>
                    <a:pt x="72646" y="1026"/>
                    <a:pt x="47447" y="35"/>
                  </a:cubicBezTo>
                  <a:cubicBezTo>
                    <a:pt x="46850" y="11"/>
                    <a:pt x="46252" y="0"/>
                    <a:pt x="45655" y="0"/>
                  </a:cubicBez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9936B4F-CEA7-4E71-8013-B550320C6001}"/>
                </a:ext>
              </a:extLst>
            </p:cNvPr>
            <p:cNvSpPr/>
            <p:nvPr/>
          </p:nvSpPr>
          <p:spPr>
            <a:xfrm>
              <a:off x="5686607" y="3009900"/>
              <a:ext cx="654688" cy="457222"/>
            </a:xfrm>
            <a:custGeom>
              <a:avLst/>
              <a:gdLst>
                <a:gd name="connsiteX0" fmla="*/ 319779 w 654688"/>
                <a:gd name="connsiteY0" fmla="*/ 19050 h 457222"/>
                <a:gd name="connsiteX1" fmla="*/ 321745 w 654688"/>
                <a:gd name="connsiteY1" fmla="*/ 19081 h 457222"/>
                <a:gd name="connsiteX2" fmla="*/ 396890 w 654688"/>
                <a:gd name="connsiteY2" fmla="*/ 78159 h 457222"/>
                <a:gd name="connsiteX3" fmla="*/ 397050 w 654688"/>
                <a:gd name="connsiteY3" fmla="*/ 78184 h 457222"/>
                <a:gd name="connsiteX4" fmla="*/ 462543 w 654688"/>
                <a:gd name="connsiteY4" fmla="*/ 42772 h 457222"/>
                <a:gd name="connsiteX5" fmla="*/ 541593 w 654688"/>
                <a:gd name="connsiteY5" fmla="*/ 121830 h 457222"/>
                <a:gd name="connsiteX6" fmla="*/ 539258 w 654688"/>
                <a:gd name="connsiteY6" fmla="*/ 139871 h 457222"/>
                <a:gd name="connsiteX7" fmla="*/ 539365 w 654688"/>
                <a:gd name="connsiteY7" fmla="*/ 139979 h 457222"/>
                <a:gd name="connsiteX8" fmla="*/ 557403 w 654688"/>
                <a:gd name="connsiteY8" fmla="*/ 137643 h 457222"/>
                <a:gd name="connsiteX9" fmla="*/ 635620 w 654688"/>
                <a:gd name="connsiteY9" fmla="*/ 217556 h 457222"/>
                <a:gd name="connsiteX10" fmla="*/ 559760 w 654688"/>
                <a:gd name="connsiteY10" fmla="*/ 295713 h 457222"/>
                <a:gd name="connsiteX11" fmla="*/ 556686 w 654688"/>
                <a:gd name="connsiteY11" fmla="*/ 295771 h 457222"/>
                <a:gd name="connsiteX12" fmla="*/ 556604 w 654688"/>
                <a:gd name="connsiteY12" fmla="*/ 295853 h 457222"/>
                <a:gd name="connsiteX13" fmla="*/ 478522 w 654688"/>
                <a:gd name="connsiteY13" fmla="*/ 366942 h 457222"/>
                <a:gd name="connsiteX14" fmla="*/ 471049 w 654688"/>
                <a:gd name="connsiteY14" fmla="*/ 366589 h 457222"/>
                <a:gd name="connsiteX15" fmla="*/ 430312 w 654688"/>
                <a:gd name="connsiteY15" fmla="*/ 350463 h 457222"/>
                <a:gd name="connsiteX16" fmla="*/ 430166 w 654688"/>
                <a:gd name="connsiteY16" fmla="*/ 350543 h 457222"/>
                <a:gd name="connsiteX17" fmla="*/ 430928 w 654688"/>
                <a:gd name="connsiteY17" fmla="*/ 359027 h 457222"/>
                <a:gd name="connsiteX18" fmla="*/ 351713 w 654688"/>
                <a:gd name="connsiteY18" fmla="*/ 438150 h 457222"/>
                <a:gd name="connsiteX19" fmla="*/ 351597 w 654688"/>
                <a:gd name="connsiteY19" fmla="*/ 438150 h 457222"/>
                <a:gd name="connsiteX20" fmla="*/ 272848 w 654688"/>
                <a:gd name="connsiteY20" fmla="*/ 366381 h 457222"/>
                <a:gd name="connsiteX21" fmla="*/ 272688 w 654688"/>
                <a:gd name="connsiteY21" fmla="*/ 366337 h 457222"/>
                <a:gd name="connsiteX22" fmla="*/ 209796 w 654688"/>
                <a:gd name="connsiteY22" fmla="*/ 398565 h 457222"/>
                <a:gd name="connsiteX23" fmla="*/ 209595 w 654688"/>
                <a:gd name="connsiteY23" fmla="*/ 398565 h 457222"/>
                <a:gd name="connsiteX24" fmla="*/ 130544 w 654688"/>
                <a:gd name="connsiteY24" fmla="*/ 319496 h 457222"/>
                <a:gd name="connsiteX25" fmla="*/ 130544 w 654688"/>
                <a:gd name="connsiteY25" fmla="*/ 312515 h 457222"/>
                <a:gd name="connsiteX26" fmla="*/ 130471 w 654688"/>
                <a:gd name="connsiteY26" fmla="*/ 312422 h 457222"/>
                <a:gd name="connsiteX27" fmla="*/ 130417 w 654688"/>
                <a:gd name="connsiteY27" fmla="*/ 312433 h 457222"/>
                <a:gd name="connsiteX28" fmla="*/ 98932 w 654688"/>
                <a:gd name="connsiteY28" fmla="*/ 319492 h 457222"/>
                <a:gd name="connsiteX29" fmla="*/ 98085 w 654688"/>
                <a:gd name="connsiteY29" fmla="*/ 319497 h 457222"/>
                <a:gd name="connsiteX30" fmla="*/ 19071 w 654688"/>
                <a:gd name="connsiteY30" fmla="*/ 240374 h 457222"/>
                <a:gd name="connsiteX31" fmla="*/ 97274 w 654688"/>
                <a:gd name="connsiteY31" fmla="*/ 161364 h 457222"/>
                <a:gd name="connsiteX32" fmla="*/ 98932 w 654688"/>
                <a:gd name="connsiteY32" fmla="*/ 161364 h 457222"/>
                <a:gd name="connsiteX33" fmla="*/ 98941 w 654688"/>
                <a:gd name="connsiteY33" fmla="*/ 161364 h 457222"/>
                <a:gd name="connsiteX34" fmla="*/ 116968 w 654688"/>
                <a:gd name="connsiteY34" fmla="*/ 163700 h 457222"/>
                <a:gd name="connsiteX35" fmla="*/ 117076 w 654688"/>
                <a:gd name="connsiteY35" fmla="*/ 163590 h 457222"/>
                <a:gd name="connsiteX36" fmla="*/ 114743 w 654688"/>
                <a:gd name="connsiteY36" fmla="*/ 145550 h 457222"/>
                <a:gd name="connsiteX37" fmla="*/ 193819 w 654688"/>
                <a:gd name="connsiteY37" fmla="*/ 66492 h 457222"/>
                <a:gd name="connsiteX38" fmla="*/ 242705 w 654688"/>
                <a:gd name="connsiteY38" fmla="*/ 83010 h 457222"/>
                <a:gd name="connsiteX39" fmla="*/ 242822 w 654688"/>
                <a:gd name="connsiteY39" fmla="*/ 83012 h 457222"/>
                <a:gd name="connsiteX40" fmla="*/ 242846 w 654688"/>
                <a:gd name="connsiteY40" fmla="*/ 82956 h 457222"/>
                <a:gd name="connsiteX41" fmla="*/ 319779 w 654688"/>
                <a:gd name="connsiteY41" fmla="*/ 19050 h 457222"/>
                <a:gd name="connsiteX42" fmla="*/ 319779 w 654688"/>
                <a:gd name="connsiteY42" fmla="*/ 0 h 457222"/>
                <a:gd name="connsiteX43" fmla="*/ 232072 w 654688"/>
                <a:gd name="connsiteY43" fmla="*/ 55150 h 457222"/>
                <a:gd name="connsiteX44" fmla="*/ 193771 w 654688"/>
                <a:gd name="connsiteY44" fmla="*/ 47441 h 457222"/>
                <a:gd name="connsiteX45" fmla="*/ 95752 w 654688"/>
                <a:gd name="connsiteY45" fmla="*/ 142339 h 457222"/>
                <a:gd name="connsiteX46" fmla="*/ 29 w 654688"/>
                <a:gd name="connsiteY46" fmla="*/ 242797 h 457222"/>
                <a:gd name="connsiteX47" fmla="*/ 98087 w 654688"/>
                <a:gd name="connsiteY47" fmla="*/ 338548 h 457222"/>
                <a:gd name="connsiteX48" fmla="*/ 99451 w 654688"/>
                <a:gd name="connsiteY48" fmla="*/ 338537 h 457222"/>
                <a:gd name="connsiteX49" fmla="*/ 113153 w 654688"/>
                <a:gd name="connsiteY49" fmla="*/ 337253 h 457222"/>
                <a:gd name="connsiteX50" fmla="*/ 209796 w 654688"/>
                <a:gd name="connsiteY50" fmla="*/ 417614 h 457222"/>
                <a:gd name="connsiteX51" fmla="*/ 263068 w 654688"/>
                <a:gd name="connsiteY51" fmla="*/ 401556 h 457222"/>
                <a:gd name="connsiteX52" fmla="*/ 394350 w 654688"/>
                <a:gd name="connsiteY52" fmla="*/ 447448 h 457222"/>
                <a:gd name="connsiteX53" fmla="*/ 447480 w 654688"/>
                <a:gd name="connsiteY53" fmla="*/ 380957 h 457222"/>
                <a:gd name="connsiteX54" fmla="*/ 469255 w 654688"/>
                <a:gd name="connsiteY54" fmla="*/ 385558 h 457222"/>
                <a:gd name="connsiteX55" fmla="*/ 478518 w 654688"/>
                <a:gd name="connsiteY55" fmla="*/ 385995 h 457222"/>
                <a:gd name="connsiteX56" fmla="*/ 572764 w 654688"/>
                <a:gd name="connsiteY56" fmla="*/ 313468 h 457222"/>
                <a:gd name="connsiteX57" fmla="*/ 653326 w 654688"/>
                <a:gd name="connsiteY57" fmla="*/ 200508 h 457222"/>
                <a:gd name="connsiteX58" fmla="*/ 560581 w 654688"/>
                <a:gd name="connsiteY58" fmla="*/ 118681 h 457222"/>
                <a:gd name="connsiteX59" fmla="*/ 462513 w 654688"/>
                <a:gd name="connsiteY59" fmla="*/ 23722 h 457222"/>
                <a:gd name="connsiteX60" fmla="*/ 402273 w 654688"/>
                <a:gd name="connsiteY60" fmla="*/ 44619 h 457222"/>
                <a:gd name="connsiteX61" fmla="*/ 320383 w 654688"/>
                <a:gd name="connsiteY61" fmla="*/ 0 h 457222"/>
                <a:gd name="connsiteX62" fmla="*/ 319779 w 654688"/>
                <a:gd name="connsiteY62" fmla="*/ 0 h 45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54688" h="457222">
                  <a:moveTo>
                    <a:pt x="319779" y="19050"/>
                  </a:moveTo>
                  <a:cubicBezTo>
                    <a:pt x="319943" y="19050"/>
                    <a:pt x="321252" y="19067"/>
                    <a:pt x="321745" y="19081"/>
                  </a:cubicBezTo>
                  <a:cubicBezTo>
                    <a:pt x="357050" y="20131"/>
                    <a:pt x="387537" y="44099"/>
                    <a:pt x="396890" y="78159"/>
                  </a:cubicBezTo>
                  <a:cubicBezTo>
                    <a:pt x="396918" y="78263"/>
                    <a:pt x="396990" y="78275"/>
                    <a:pt x="397050" y="78184"/>
                  </a:cubicBezTo>
                  <a:cubicBezTo>
                    <a:pt x="411534" y="56115"/>
                    <a:pt x="436145" y="42808"/>
                    <a:pt x="462543" y="42772"/>
                  </a:cubicBezTo>
                  <a:cubicBezTo>
                    <a:pt x="506150" y="42902"/>
                    <a:pt x="541468" y="78222"/>
                    <a:pt x="541593" y="121830"/>
                  </a:cubicBezTo>
                  <a:cubicBezTo>
                    <a:pt x="541584" y="127918"/>
                    <a:pt x="540799" y="133981"/>
                    <a:pt x="539258" y="139871"/>
                  </a:cubicBezTo>
                  <a:cubicBezTo>
                    <a:pt x="539236" y="139952"/>
                    <a:pt x="539285" y="140000"/>
                    <a:pt x="539365" y="139979"/>
                  </a:cubicBezTo>
                  <a:cubicBezTo>
                    <a:pt x="545255" y="138438"/>
                    <a:pt x="551316" y="137652"/>
                    <a:pt x="557403" y="137643"/>
                  </a:cubicBezTo>
                  <a:cubicBezTo>
                    <a:pt x="601069" y="138112"/>
                    <a:pt x="636089" y="173889"/>
                    <a:pt x="635620" y="217556"/>
                  </a:cubicBezTo>
                  <a:cubicBezTo>
                    <a:pt x="635169" y="259648"/>
                    <a:pt x="601820" y="294007"/>
                    <a:pt x="559760" y="295713"/>
                  </a:cubicBezTo>
                  <a:cubicBezTo>
                    <a:pt x="559059" y="295741"/>
                    <a:pt x="557093" y="295767"/>
                    <a:pt x="556686" y="295771"/>
                  </a:cubicBezTo>
                  <a:cubicBezTo>
                    <a:pt x="556642" y="295773"/>
                    <a:pt x="556606" y="295809"/>
                    <a:pt x="556604" y="295853"/>
                  </a:cubicBezTo>
                  <a:cubicBezTo>
                    <a:pt x="552761" y="336119"/>
                    <a:pt x="518970" y="366884"/>
                    <a:pt x="478522" y="366942"/>
                  </a:cubicBezTo>
                  <a:cubicBezTo>
                    <a:pt x="476049" y="366942"/>
                    <a:pt x="473558" y="366824"/>
                    <a:pt x="471049" y="366589"/>
                  </a:cubicBezTo>
                  <a:cubicBezTo>
                    <a:pt x="456215" y="365187"/>
                    <a:pt x="442087" y="359594"/>
                    <a:pt x="430312" y="350463"/>
                  </a:cubicBezTo>
                  <a:cubicBezTo>
                    <a:pt x="430217" y="350389"/>
                    <a:pt x="430151" y="350424"/>
                    <a:pt x="430166" y="350543"/>
                  </a:cubicBezTo>
                  <a:cubicBezTo>
                    <a:pt x="430604" y="353351"/>
                    <a:pt x="430859" y="356185"/>
                    <a:pt x="430928" y="359027"/>
                  </a:cubicBezTo>
                  <a:cubicBezTo>
                    <a:pt x="430871" y="402737"/>
                    <a:pt x="395424" y="438143"/>
                    <a:pt x="351713" y="438150"/>
                  </a:cubicBezTo>
                  <a:lnTo>
                    <a:pt x="351597" y="438150"/>
                  </a:lnTo>
                  <a:cubicBezTo>
                    <a:pt x="310778" y="438087"/>
                    <a:pt x="276688" y="407019"/>
                    <a:pt x="272848" y="366381"/>
                  </a:cubicBezTo>
                  <a:cubicBezTo>
                    <a:pt x="272836" y="366251"/>
                    <a:pt x="272764" y="366232"/>
                    <a:pt x="272688" y="366337"/>
                  </a:cubicBezTo>
                  <a:cubicBezTo>
                    <a:pt x="258128" y="386570"/>
                    <a:pt x="234724" y="398563"/>
                    <a:pt x="209796" y="398565"/>
                  </a:cubicBezTo>
                  <a:lnTo>
                    <a:pt x="209595" y="398565"/>
                  </a:lnTo>
                  <a:cubicBezTo>
                    <a:pt x="165984" y="398432"/>
                    <a:pt x="130668" y="363106"/>
                    <a:pt x="130544" y="319496"/>
                  </a:cubicBezTo>
                  <a:lnTo>
                    <a:pt x="130544" y="312515"/>
                  </a:lnTo>
                  <a:cubicBezTo>
                    <a:pt x="130550" y="312470"/>
                    <a:pt x="130517" y="312428"/>
                    <a:pt x="130471" y="312422"/>
                  </a:cubicBezTo>
                  <a:cubicBezTo>
                    <a:pt x="130452" y="312419"/>
                    <a:pt x="130433" y="312424"/>
                    <a:pt x="130417" y="312433"/>
                  </a:cubicBezTo>
                  <a:cubicBezTo>
                    <a:pt x="120478" y="316801"/>
                    <a:pt x="109785" y="319198"/>
                    <a:pt x="98932" y="319492"/>
                  </a:cubicBezTo>
                  <a:cubicBezTo>
                    <a:pt x="98647" y="319492"/>
                    <a:pt x="98367" y="319497"/>
                    <a:pt x="98085" y="319497"/>
                  </a:cubicBezTo>
                  <a:cubicBezTo>
                    <a:pt x="54417" y="319467"/>
                    <a:pt x="19041" y="284042"/>
                    <a:pt x="19071" y="240374"/>
                  </a:cubicBezTo>
                  <a:cubicBezTo>
                    <a:pt x="19101" y="197064"/>
                    <a:pt x="53967" y="161838"/>
                    <a:pt x="97274" y="161364"/>
                  </a:cubicBezTo>
                  <a:cubicBezTo>
                    <a:pt x="97550" y="161364"/>
                    <a:pt x="98655" y="161364"/>
                    <a:pt x="98932" y="161364"/>
                  </a:cubicBezTo>
                  <a:lnTo>
                    <a:pt x="98941" y="161364"/>
                  </a:lnTo>
                  <a:cubicBezTo>
                    <a:pt x="105024" y="161374"/>
                    <a:pt x="111082" y="162158"/>
                    <a:pt x="116968" y="163700"/>
                  </a:cubicBezTo>
                  <a:cubicBezTo>
                    <a:pt x="117050" y="163720"/>
                    <a:pt x="117098" y="163672"/>
                    <a:pt x="117076" y="163590"/>
                  </a:cubicBezTo>
                  <a:cubicBezTo>
                    <a:pt x="115486" y="157710"/>
                    <a:pt x="114701" y="151641"/>
                    <a:pt x="114743" y="145550"/>
                  </a:cubicBezTo>
                  <a:cubicBezTo>
                    <a:pt x="114872" y="101934"/>
                    <a:pt x="150203" y="66611"/>
                    <a:pt x="193819" y="66492"/>
                  </a:cubicBezTo>
                  <a:cubicBezTo>
                    <a:pt x="211476" y="66546"/>
                    <a:pt x="228635" y="72344"/>
                    <a:pt x="242705" y="83010"/>
                  </a:cubicBezTo>
                  <a:cubicBezTo>
                    <a:pt x="242737" y="83043"/>
                    <a:pt x="242788" y="83044"/>
                    <a:pt x="242822" y="83012"/>
                  </a:cubicBezTo>
                  <a:cubicBezTo>
                    <a:pt x="242837" y="82998"/>
                    <a:pt x="242845" y="82978"/>
                    <a:pt x="242846" y="82956"/>
                  </a:cubicBezTo>
                  <a:cubicBezTo>
                    <a:pt x="249766" y="45914"/>
                    <a:pt x="282096" y="19058"/>
                    <a:pt x="319779" y="19050"/>
                  </a:cubicBezTo>
                  <a:moveTo>
                    <a:pt x="319779" y="0"/>
                  </a:moveTo>
                  <a:cubicBezTo>
                    <a:pt x="282376" y="8"/>
                    <a:pt x="248286" y="21444"/>
                    <a:pt x="232072" y="55150"/>
                  </a:cubicBezTo>
                  <a:cubicBezTo>
                    <a:pt x="219927" y="50114"/>
                    <a:pt x="206917" y="47495"/>
                    <a:pt x="193771" y="47441"/>
                  </a:cubicBezTo>
                  <a:cubicBezTo>
                    <a:pt x="140950" y="47703"/>
                    <a:pt x="97723" y="89554"/>
                    <a:pt x="95752" y="142339"/>
                  </a:cubicBezTo>
                  <a:cubicBezTo>
                    <a:pt x="41578" y="143647"/>
                    <a:pt x="-1278" y="188623"/>
                    <a:pt x="29" y="242797"/>
                  </a:cubicBezTo>
                  <a:cubicBezTo>
                    <a:pt x="1314" y="296036"/>
                    <a:pt x="44833" y="338531"/>
                    <a:pt x="98087" y="338548"/>
                  </a:cubicBezTo>
                  <a:lnTo>
                    <a:pt x="99451" y="338537"/>
                  </a:lnTo>
                  <a:cubicBezTo>
                    <a:pt x="104042" y="338414"/>
                    <a:pt x="108619" y="337984"/>
                    <a:pt x="113153" y="337253"/>
                  </a:cubicBezTo>
                  <a:cubicBezTo>
                    <a:pt x="121958" y="383732"/>
                    <a:pt x="162491" y="417435"/>
                    <a:pt x="209796" y="417614"/>
                  </a:cubicBezTo>
                  <a:cubicBezTo>
                    <a:pt x="228744" y="417599"/>
                    <a:pt x="247269" y="412014"/>
                    <a:pt x="263068" y="401556"/>
                  </a:cubicBezTo>
                  <a:cubicBezTo>
                    <a:pt x="286648" y="450481"/>
                    <a:pt x="345425" y="471028"/>
                    <a:pt x="394350" y="447448"/>
                  </a:cubicBezTo>
                  <a:cubicBezTo>
                    <a:pt x="421231" y="434493"/>
                    <a:pt x="440775" y="410034"/>
                    <a:pt x="447480" y="380957"/>
                  </a:cubicBezTo>
                  <a:cubicBezTo>
                    <a:pt x="454539" y="383316"/>
                    <a:pt x="461844" y="384860"/>
                    <a:pt x="469255" y="385558"/>
                  </a:cubicBezTo>
                  <a:cubicBezTo>
                    <a:pt x="472328" y="385843"/>
                    <a:pt x="475446" y="385995"/>
                    <a:pt x="478518" y="385995"/>
                  </a:cubicBezTo>
                  <a:cubicBezTo>
                    <a:pt x="522800" y="386152"/>
                    <a:pt x="561574" y="356314"/>
                    <a:pt x="572764" y="313468"/>
                  </a:cubicBezTo>
                  <a:cubicBezTo>
                    <a:pt x="626204" y="304522"/>
                    <a:pt x="662272" y="253948"/>
                    <a:pt x="653326" y="200508"/>
                  </a:cubicBezTo>
                  <a:cubicBezTo>
                    <a:pt x="645663" y="154727"/>
                    <a:pt x="606962" y="120582"/>
                    <a:pt x="560581" y="118681"/>
                  </a:cubicBezTo>
                  <a:cubicBezTo>
                    <a:pt x="558631" y="65859"/>
                    <a:pt x="515372" y="23971"/>
                    <a:pt x="462513" y="23722"/>
                  </a:cubicBezTo>
                  <a:cubicBezTo>
                    <a:pt x="440655" y="23719"/>
                    <a:pt x="419433" y="31081"/>
                    <a:pt x="402273" y="44619"/>
                  </a:cubicBezTo>
                  <a:cubicBezTo>
                    <a:pt x="384010" y="17146"/>
                    <a:pt x="353369" y="452"/>
                    <a:pt x="320383" y="0"/>
                  </a:cubicBezTo>
                  <a:lnTo>
                    <a:pt x="319779" y="0"/>
                  </a:lnTo>
                  <a:close/>
                </a:path>
              </a:pathLst>
            </a:custGeom>
            <a:grpFill/>
            <a:ln w="9525" cap="flat">
              <a:noFill/>
              <a:prstDash val="solid"/>
              <a:miter/>
            </a:ln>
          </p:spPr>
          <p:txBody>
            <a:bodyPr rtlCol="0" anchor="ctr"/>
            <a:lstStyle/>
            <a:p>
              <a:endParaRPr lang="en-US"/>
            </a:p>
          </p:txBody>
        </p:sp>
      </p:grpSp>
      <p:pic>
        <p:nvPicPr>
          <p:cNvPr id="5" name="Graphic 4" descr="Help outline">
            <a:extLst>
              <a:ext uri="{FF2B5EF4-FFF2-40B4-BE49-F238E27FC236}">
                <a16:creationId xmlns:a16="http://schemas.microsoft.com/office/drawing/2014/main" id="{8A3191FB-ECA0-4E0F-9F27-62F1E6A2F6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18212" y="1421350"/>
            <a:ext cx="914400" cy="914400"/>
          </a:xfrm>
          <a:prstGeom prst="rect">
            <a:avLst/>
          </a:prstGeom>
        </p:spPr>
      </p:pic>
      <p:sp>
        <p:nvSpPr>
          <p:cNvPr id="6" name="TextBox 5">
            <a:extLst>
              <a:ext uri="{FF2B5EF4-FFF2-40B4-BE49-F238E27FC236}">
                <a16:creationId xmlns:a16="http://schemas.microsoft.com/office/drawing/2014/main" id="{432F0D29-4891-4E42-9CB5-A57D6CA69E0A}"/>
              </a:ext>
            </a:extLst>
          </p:cNvPr>
          <p:cNvSpPr txBox="1"/>
          <p:nvPr/>
        </p:nvSpPr>
        <p:spPr>
          <a:xfrm>
            <a:off x="4718212" y="2428875"/>
            <a:ext cx="1127873" cy="369332"/>
          </a:xfrm>
          <a:prstGeom prst="rect">
            <a:avLst/>
          </a:prstGeom>
          <a:noFill/>
        </p:spPr>
        <p:txBody>
          <a:bodyPr wrap="none" rtlCol="0">
            <a:spAutoFit/>
          </a:bodyPr>
          <a:lstStyle/>
          <a:p>
            <a:r>
              <a:rPr lang="en-US"/>
              <a:t>Questions</a:t>
            </a:r>
          </a:p>
        </p:txBody>
      </p:sp>
    </p:spTree>
    <p:extLst>
      <p:ext uri="{BB962C8B-B14F-4D97-AF65-F5344CB8AC3E}">
        <p14:creationId xmlns:p14="http://schemas.microsoft.com/office/powerpoint/2010/main" val="30915859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ISCG6425 Data Warehousing Assignment 2</vt:lpstr>
      <vt:lpstr>Agenda</vt:lpstr>
      <vt:lpstr>Creating the OLAP tables in Data Warehouse (Contd. From Task 1)</vt:lpstr>
      <vt:lpstr>Creating a new Integration Services Project</vt:lpstr>
      <vt:lpstr>Connection Manager</vt:lpstr>
      <vt:lpstr>Common SSIS Toolbox Components – Sequence Container,  Execute SQL Task</vt:lpstr>
      <vt:lpstr>Extract, Transform and Load data in Integration Services Project</vt:lpstr>
      <vt:lpstr>Integration Services Project – Containers  &amp; Map</vt:lpstr>
      <vt:lpstr>Identify Insert</vt:lpstr>
      <vt:lpstr>Insert &amp; Update Dimension Tables (Understanding DimProduct Data Flow)</vt:lpstr>
      <vt:lpstr>Updating Fact Table (Understanding factSale Data Flow)</vt:lpstr>
      <vt:lpstr>Logging in Integration Services Project</vt:lpstr>
      <vt:lpstr>Design of Data Quality Framework in SQL Server</vt:lpstr>
      <vt:lpstr>Implementing Variables</vt:lpstr>
      <vt:lpstr>Implementing Variables (contd.)</vt:lpstr>
      <vt:lpstr>Data Quality Framework (Output)</vt:lpstr>
      <vt:lpstr>Capturing Data into Variables (DQ RULES)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3</cp:revision>
  <dcterms:created xsi:type="dcterms:W3CDTF">2013-07-15T20:26:40Z</dcterms:created>
  <dcterms:modified xsi:type="dcterms:W3CDTF">2021-10-29T08:17:16Z</dcterms:modified>
</cp:coreProperties>
</file>